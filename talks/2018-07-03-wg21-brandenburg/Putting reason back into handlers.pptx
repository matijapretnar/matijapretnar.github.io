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2F3640"/>
        </a:solidFill>
        <a:effectLst/>
        <a:uFillTx/>
        <a:latin typeface="+mn-lt"/>
        <a:ea typeface="+mn-ea"/>
        <a:cs typeface="+mn-cs"/>
        <a:sym typeface="Avenir Nex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2F364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2F3640"/>
        </a:fontRef>
        <a:srgbClr val="2F364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Shape 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Avenir Next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bg>
      <p:bgPr>
        <a:solidFill>
          <a:srgbClr val="2F3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0" y="3251199"/>
            <a:ext cx="13004800" cy="32512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cap="all">
                <a:latin typeface="+mn-lt"/>
                <a:ea typeface="+mn-ea"/>
                <a:cs typeface="+mn-cs"/>
                <a:sym typeface="Avenir Nex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Draft">
    <p:bg>
      <p:bgPr>
        <a:solidFill>
          <a:srgbClr val="C23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/>
          <p:nvPr>
            <p:ph type="title"/>
          </p:nvPr>
        </p:nvSpPr>
        <p:spPr>
          <a:xfrm>
            <a:off x="0" y="-1"/>
            <a:ext cx="13004800" cy="1625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BC53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" name="Shape 20"/>
          <p:cNvSpPr/>
          <p:nvPr>
            <p:ph type="body" idx="1"/>
          </p:nvPr>
        </p:nvSpPr>
        <p:spPr>
          <a:xfrm>
            <a:off x="1270000" y="1625600"/>
            <a:ext cx="10464800" cy="6502400"/>
          </a:xfrm>
          <a:prstGeom prst="rect">
            <a:avLst/>
          </a:prstGeom>
        </p:spPr>
        <p:txBody>
          <a:bodyPr anchor="t"/>
          <a:lstStyle>
            <a:lvl1pPr>
              <a:defRPr b="1" sz="4800">
                <a:solidFill>
                  <a:srgbClr val="FBC531"/>
                </a:solidFill>
              </a:defRPr>
            </a:lvl1pPr>
            <a:lvl2pPr>
              <a:defRPr b="1" sz="4800">
                <a:solidFill>
                  <a:srgbClr val="FBC531"/>
                </a:solidFill>
              </a:defRPr>
            </a:lvl2pPr>
            <a:lvl3pPr>
              <a:defRPr b="1" sz="4800">
                <a:solidFill>
                  <a:srgbClr val="FBC531"/>
                </a:solidFill>
              </a:defRPr>
            </a:lvl3pPr>
            <a:lvl4pPr>
              <a:defRPr b="1" sz="4800">
                <a:solidFill>
                  <a:srgbClr val="FBC531"/>
                </a:solidFill>
              </a:defRPr>
            </a:lvl4pPr>
            <a:lvl5pPr>
              <a:defRPr b="1" sz="4800">
                <a:solidFill>
                  <a:srgbClr val="FBC53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hape 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draft">
    <p:bg>
      <p:bgPr>
        <a:solidFill>
          <a:srgbClr val="C23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>
            <p:ph type="title"/>
          </p:nvPr>
        </p:nvSpPr>
        <p:spPr>
          <a:xfrm>
            <a:off x="-1" y="-1"/>
            <a:ext cx="13004801" cy="9753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BC53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" name="Shape 2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>
            <p:ph type="title"/>
          </p:nvPr>
        </p:nvSpPr>
        <p:spPr>
          <a:xfrm>
            <a:off x="0" y="0"/>
            <a:ext cx="13004802" cy="1636446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2F3640"/>
                </a:solidFill>
                <a:latin typeface="+mn-lt"/>
                <a:ea typeface="+mn-ea"/>
                <a:cs typeface="+mn-cs"/>
                <a:sym typeface="Avenir Nex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7" name="Shape 3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2" name="Shape 5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aper">
    <p:bg>
      <p:bgPr>
        <a:solidFill>
          <a:srgbClr val="7180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72001">
            <a:off x="3314182" y="387776"/>
            <a:ext cx="6781801" cy="9512301"/>
          </a:xfrm>
          <a:prstGeom prst="rect">
            <a:avLst/>
          </a:prstGeom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</p:pic>
      <p:pic>
        <p:nvPicPr>
          <p:cNvPr id="60" name="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72001">
            <a:off x="3237982" y="324276"/>
            <a:ext cx="6781801" cy="9512301"/>
          </a:xfrm>
          <a:prstGeom prst="rect">
            <a:avLst/>
          </a:prstGeom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</p:pic>
      <p:sp>
        <p:nvSpPr>
          <p:cNvPr id="61" name="Shape 61"/>
          <p:cNvSpPr/>
          <p:nvPr/>
        </p:nvSpPr>
        <p:spPr>
          <a:xfrm rot="72001">
            <a:off x="3264366" y="262269"/>
            <a:ext cx="6491553" cy="91374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62" name="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72001">
            <a:off x="3174482" y="248076"/>
            <a:ext cx="6781801" cy="9512301"/>
          </a:xfrm>
          <a:prstGeom prst="rect">
            <a:avLst/>
          </a:prstGeom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</p:pic>
      <p:sp>
        <p:nvSpPr>
          <p:cNvPr id="63" name="Shape 63"/>
          <p:cNvSpPr/>
          <p:nvPr>
            <p:ph type="pic" idx="13"/>
          </p:nvPr>
        </p:nvSpPr>
        <p:spPr>
          <a:xfrm rot="88185">
            <a:off x="3326533" y="323921"/>
            <a:ext cx="6351734" cy="8953359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4" name="Shape 6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omputer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/>
        </p:nvSpPr>
        <p:spPr>
          <a:xfrm>
            <a:off x="384671" y="262269"/>
            <a:ext cx="12189453" cy="91866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72" name="Shape 72"/>
          <p:cNvSpPr/>
          <p:nvPr>
            <p:ph type="pic" idx="13"/>
          </p:nvPr>
        </p:nvSpPr>
        <p:spPr>
          <a:xfrm>
            <a:off x="407729" y="306976"/>
            <a:ext cx="12189342" cy="9139648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3" name="Shape 7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Draft">
    <p:bg>
      <p:bgPr>
        <a:solidFill>
          <a:srgbClr val="C23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title"/>
          </p:nvPr>
        </p:nvSpPr>
        <p:spPr>
          <a:xfrm>
            <a:off x="0" y="-1"/>
            <a:ext cx="13004800" cy="1625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BC53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" name="Shape 81"/>
          <p:cNvSpPr/>
          <p:nvPr>
            <p:ph type="body" idx="1"/>
          </p:nvPr>
        </p:nvSpPr>
        <p:spPr>
          <a:xfrm>
            <a:off x="1270000" y="1625600"/>
            <a:ext cx="10464800" cy="6502400"/>
          </a:xfrm>
          <a:prstGeom prst="rect">
            <a:avLst/>
          </a:prstGeom>
        </p:spPr>
        <p:txBody>
          <a:bodyPr anchor="t"/>
          <a:lstStyle>
            <a:lvl1pPr>
              <a:defRPr b="1" sz="4800">
                <a:solidFill>
                  <a:srgbClr val="FBC531"/>
                </a:solidFill>
              </a:defRPr>
            </a:lvl1pPr>
            <a:lvl2pPr>
              <a:defRPr b="1" sz="4800">
                <a:solidFill>
                  <a:srgbClr val="FBC531"/>
                </a:solidFill>
              </a:defRPr>
            </a:lvl2pPr>
            <a:lvl3pPr>
              <a:defRPr b="1" sz="4800">
                <a:solidFill>
                  <a:srgbClr val="FBC531"/>
                </a:solidFill>
              </a:defRPr>
            </a:lvl3pPr>
            <a:lvl4pPr>
              <a:defRPr b="1" sz="4800">
                <a:solidFill>
                  <a:srgbClr val="FBC531"/>
                </a:solidFill>
              </a:defRPr>
            </a:lvl4pPr>
            <a:lvl5pPr>
              <a:defRPr b="1" sz="4800">
                <a:solidFill>
                  <a:srgbClr val="FBC53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hape 8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F5F6FA"/>
          </a:solidFill>
          <a:uFillTx/>
          <a:latin typeface="+mj-lt"/>
          <a:ea typeface="+mj-ea"/>
          <a:cs typeface="+mj-cs"/>
          <a:sym typeface="Avenir Next Heavy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2F3640"/>
          </a:solidFill>
          <a:uFillTx/>
          <a:latin typeface="+mn-lt"/>
          <a:ea typeface="+mn-ea"/>
          <a:cs typeface="+mn-cs"/>
          <a:sym typeface="Avenir Nex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33.png"/></Relationships>
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/Relationships>
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/Relationships>
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
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/Relationships>
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
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/Relationships>
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/Relationships>
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putting </a:t>
            </a:r>
            <a:r>
              <a:rPr>
                <a:solidFill>
                  <a:srgbClr val="FBC531"/>
                </a:solidFill>
                <a:latin typeface="+mj-lt"/>
                <a:ea typeface="+mj-ea"/>
                <a:cs typeface="+mj-cs"/>
                <a:sym typeface="Avenir Next Heavy"/>
              </a:rPr>
              <a:t>reason</a:t>
            </a:r>
          </a:p>
          <a:p>
            <a:pPr/>
            <a:r>
              <a:t>back into </a:t>
            </a:r>
            <a:r>
              <a:rPr>
                <a:solidFill>
                  <a:srgbClr val="FBC531"/>
                </a:solidFill>
                <a:latin typeface="+mj-lt"/>
                <a:ea typeface="+mj-ea"/>
                <a:cs typeface="+mj-cs"/>
                <a:sym typeface="Avenir Next Heavy"/>
              </a:rPr>
              <a:t>handlers</a:t>
            </a:r>
          </a:p>
        </p:txBody>
      </p:sp>
      <p:sp>
        <p:nvSpPr>
          <p:cNvPr id="92" name="Shape 92"/>
          <p:cNvSpPr/>
          <p:nvPr/>
        </p:nvSpPr>
        <p:spPr>
          <a:xfrm rot="20755983">
            <a:off x="235080" y="421013"/>
            <a:ext cx="3030052" cy="2997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13400" y="2077"/>
                </a:lnTo>
                <a:lnTo>
                  <a:pt x="16699" y="1750"/>
                </a:lnTo>
                <a:lnTo>
                  <a:pt x="17775" y="4917"/>
                </a:lnTo>
                <a:lnTo>
                  <a:pt x="20725" y="6444"/>
                </a:lnTo>
                <a:lnTo>
                  <a:pt x="19935" y="9696"/>
                </a:lnTo>
                <a:lnTo>
                  <a:pt x="21600" y="12592"/>
                </a:lnTo>
                <a:lnTo>
                  <a:pt x="19195" y="14897"/>
                </a:lnTo>
                <a:lnTo>
                  <a:pt x="19046" y="18242"/>
                </a:lnTo>
                <a:lnTo>
                  <a:pt x="15790" y="18867"/>
                </a:lnTo>
                <a:lnTo>
                  <a:pt x="13874" y="21600"/>
                </a:lnTo>
                <a:lnTo>
                  <a:pt x="10800" y="20347"/>
                </a:lnTo>
                <a:lnTo>
                  <a:pt x="7726" y="21600"/>
                </a:lnTo>
                <a:lnTo>
                  <a:pt x="5810" y="18867"/>
                </a:lnTo>
                <a:lnTo>
                  <a:pt x="2554" y="18242"/>
                </a:lnTo>
                <a:lnTo>
                  <a:pt x="2405" y="14897"/>
                </a:lnTo>
                <a:lnTo>
                  <a:pt x="0" y="12592"/>
                </a:lnTo>
                <a:lnTo>
                  <a:pt x="1665" y="9696"/>
                </a:lnTo>
                <a:lnTo>
                  <a:pt x="875" y="6444"/>
                </a:lnTo>
                <a:lnTo>
                  <a:pt x="3825" y="4917"/>
                </a:lnTo>
                <a:lnTo>
                  <a:pt x="4901" y="1750"/>
                </a:lnTo>
                <a:lnTo>
                  <a:pt x="8200" y="2077"/>
                </a:lnTo>
                <a:close/>
              </a:path>
            </a:pathLst>
          </a:custGeom>
          <a:solidFill>
            <a:srgbClr val="E84118"/>
          </a:solidFill>
          <a:ln w="114300">
            <a:solidFill>
              <a:srgbClr val="FBC53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cap="small" sz="6300">
                <a:solidFill>
                  <a:srgbClr val="FBC531"/>
                </a:solidFill>
              </a:defRPr>
            </a:pPr>
            <a:r>
              <a:rPr baseline="31999"/>
              <a:t>EZ</a:t>
            </a:r>
            <a:r>
              <a:t>2</a:t>
            </a:r>
            <a:r>
              <a:rPr baseline="-5999"/>
              <a:t>USE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8797063" y="89618"/>
            <a:ext cx="4083461" cy="4074251"/>
            <a:chOff x="0" y="0"/>
            <a:chExt cx="4083459" cy="4074250"/>
          </a:xfrm>
        </p:grpSpPr>
        <p:sp>
          <p:nvSpPr>
            <p:cNvPr id="93" name="Shape 93"/>
            <p:cNvSpPr/>
            <p:nvPr/>
          </p:nvSpPr>
          <p:spPr>
            <a:xfrm rot="849628">
              <a:off x="358979" y="360726"/>
              <a:ext cx="3365501" cy="3352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600">
                  <a:solidFill>
                    <a:srgbClr val="44BD32"/>
                  </a:solidFill>
                </a:defRPr>
              </a:lvl1pPr>
            </a:lstStyle>
            <a:p>
              <a:pPr/>
              <a:r>
                <a:t>♻</a:t>
              </a:r>
            </a:p>
          </p:txBody>
        </p:sp>
        <p:sp>
          <p:nvSpPr>
            <p:cNvPr id="94" name="Shape 94"/>
            <p:cNvSpPr/>
            <p:nvPr/>
          </p:nvSpPr>
          <p:spPr>
            <a:xfrm rot="849628">
              <a:off x="1450799" y="1802175"/>
              <a:ext cx="1181863" cy="723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44BD32"/>
                  </a:solidFill>
                  <a:latin typeface="+mj-lt"/>
                  <a:ea typeface="+mj-ea"/>
                  <a:cs typeface="+mj-cs"/>
                  <a:sym typeface="Avenir Next Heavy"/>
                </a:defRPr>
              </a:lvl1pPr>
            </a:lstStyle>
            <a:p>
              <a:pPr/>
              <a:r>
                <a:t>90%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352173" y="7167557"/>
            <a:ext cx="6843764" cy="2634532"/>
            <a:chOff x="0" y="0"/>
            <a:chExt cx="6843762" cy="2634531"/>
          </a:xfrm>
        </p:grpSpPr>
        <p:sp>
          <p:nvSpPr>
            <p:cNvPr id="96" name="Shape 96"/>
            <p:cNvSpPr/>
            <p:nvPr/>
          </p:nvSpPr>
          <p:spPr>
            <a:xfrm>
              <a:off x="0" y="0"/>
              <a:ext cx="6843763" cy="26345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49" fill="norm" stroke="1" extrusionOk="0">
                  <a:moveTo>
                    <a:pt x="20997" y="20171"/>
                  </a:moveTo>
                  <a:lnTo>
                    <a:pt x="21600" y="4186"/>
                  </a:lnTo>
                  <a:cubicBezTo>
                    <a:pt x="19440" y="156"/>
                    <a:pt x="16626" y="-1051"/>
                    <a:pt x="14043" y="943"/>
                  </a:cubicBezTo>
                  <a:cubicBezTo>
                    <a:pt x="12570" y="2081"/>
                    <a:pt x="11259" y="4231"/>
                    <a:pt x="9791" y="5404"/>
                  </a:cubicBezTo>
                  <a:cubicBezTo>
                    <a:pt x="8517" y="6421"/>
                    <a:pt x="7165" y="6671"/>
                    <a:pt x="5884" y="7628"/>
                  </a:cubicBezTo>
                  <a:cubicBezTo>
                    <a:pt x="3251" y="9595"/>
                    <a:pt x="1100" y="14319"/>
                    <a:pt x="0" y="20549"/>
                  </a:cubicBezTo>
                  <a:lnTo>
                    <a:pt x="20997" y="20171"/>
                  </a:lnTo>
                  <a:close/>
                </a:path>
              </a:pathLst>
            </a:custGeom>
            <a:solidFill>
              <a:srgbClr val="00A8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97" name="Shape 97"/>
            <p:cNvSpPr/>
            <p:nvPr/>
          </p:nvSpPr>
          <p:spPr>
            <a:xfrm>
              <a:off x="915376" y="646981"/>
              <a:ext cx="5737251" cy="177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r">
                <a:defRPr i="1" sz="4800">
                  <a:solidFill>
                    <a:srgbClr val="F5F6FA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t>now with up to</a:t>
              </a:r>
            </a:p>
            <a:p>
              <a:pPr algn="r">
                <a:defRPr i="1" sz="4800">
                  <a:solidFill>
                    <a:srgbClr val="F5F6FA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t>37% shorter* proofs</a:t>
              </a:r>
            </a:p>
          </p:txBody>
        </p:sp>
        <p:sp>
          <p:nvSpPr>
            <p:cNvPr id="98" name="Shape 98"/>
            <p:cNvSpPr/>
            <p:nvPr/>
          </p:nvSpPr>
          <p:spPr>
            <a:xfrm>
              <a:off x="579410" y="2215431"/>
              <a:ext cx="6073217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800">
                  <a:solidFill>
                    <a:srgbClr val="F5F6FA"/>
                  </a:solidFill>
                </a:defRPr>
              </a:lvl1pPr>
            </a:lstStyle>
            <a:p>
              <a:pPr/>
              <a:r>
                <a:t>*Findings based on a survey of 2 proofs conducted today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5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2" grpId="1"/>
      <p:bldP build="whole" bldLvl="1" animBg="1" rev="0" advAuto="0" spid="99" grpId="2"/>
      <p:bldP build="whole" bldLvl="1" animBg="1" rev="0" advAuto="0" spid="95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2058415" y="2336800"/>
            <a:ext cx="8887969" cy="508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7200"/>
            </a:pPr>
            <a:r>
              <a:t>every </a:t>
            </a:r>
            <a:r>
              <a:rPr>
                <a:latin typeface="+mj-lt"/>
                <a:ea typeface="+mj-ea"/>
                <a:cs typeface="+mj-cs"/>
                <a:sym typeface="Avenir Next Heavy"/>
              </a:rPr>
              <a:t>computation</a:t>
            </a:r>
          </a:p>
          <a:p>
            <a:pPr/>
            <a:r>
              <a:t>either</a:t>
            </a:r>
          </a:p>
          <a:p>
            <a:pPr>
              <a:defRPr sz="7200"/>
            </a:pPr>
            <a:r>
              <a:t>returns a </a:t>
            </a:r>
            <a:r>
              <a:rPr>
                <a:latin typeface="+mj-lt"/>
                <a:ea typeface="+mj-ea"/>
                <a:cs typeface="+mj-cs"/>
                <a:sym typeface="Avenir Next Heavy"/>
              </a:rPr>
              <a:t>value</a:t>
            </a:r>
          </a:p>
          <a:p>
            <a:pPr/>
            <a:r>
              <a:t>or</a:t>
            </a:r>
          </a:p>
          <a:p>
            <a:pPr>
              <a:defRPr sz="7200"/>
            </a:pPr>
            <a:r>
              <a:t>calls an </a:t>
            </a:r>
            <a:r>
              <a:rPr>
                <a:latin typeface="+mj-lt"/>
                <a:ea typeface="+mj-ea"/>
                <a:cs typeface="+mj-cs"/>
                <a:sym typeface="Avenir Next Heavy"/>
              </a:rPr>
              <a:t>operation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/>
        </p:nvSpPr>
        <p:spPr>
          <a:xfrm>
            <a:off x="2787650" y="1798422"/>
            <a:ext cx="7429500" cy="6156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4CD137"/>
                </a:solidFill>
              </a:rPr>
              <a:t>beep</a:t>
            </a:r>
            <a:r>
              <a:t> (); m / n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</a:t>
            </a:r>
            <a:r>
              <a:rPr>
                <a:solidFill>
                  <a:srgbClr val="E84118"/>
                </a:solidFill>
              </a:rPr>
              <a:t>0</a:t>
            </a:r>
            <a:r>
              <a:t> 4)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414062" y="4876800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4CD137"/>
                </a:solidFill>
              </a:rPr>
              <a:t>beep</a:t>
            </a:r>
            <a:r>
              <a:t> (); m / 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</a:t>
            </a:r>
            <a:r>
              <a:rPr>
                <a:solidFill>
                  <a:srgbClr val="E84118"/>
                </a:solidFill>
              </a:rPr>
              <a:t>0</a:t>
            </a:r>
            <a:r>
              <a:t> 4)</a:t>
            </a:r>
          </a:p>
        </p:txBody>
      </p:sp>
      <p:sp>
        <p:nvSpPr>
          <p:cNvPr id="106" name="Shape 106"/>
          <p:cNvSpPr/>
          <p:nvPr/>
        </p:nvSpPr>
        <p:spPr>
          <a:xfrm>
            <a:off x="8614564" y="139700"/>
            <a:ext cx="799077" cy="799077"/>
          </a:xfrm>
          <a:prstGeom prst="ellipse">
            <a:avLst/>
          </a:prstGeom>
          <a:solidFill>
            <a:srgbClr val="BEE1FA"/>
          </a:solidFill>
          <a:ln w="25400">
            <a:solidFill>
              <a:srgbClr val="00A8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07" name="Shape 107"/>
          <p:cNvSpPr/>
          <p:nvPr/>
        </p:nvSpPr>
        <p:spPr>
          <a:xfrm>
            <a:off x="6590705" y="2056233"/>
            <a:ext cx="799077" cy="799078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08" name="Shape 108"/>
          <p:cNvSpPr/>
          <p:nvPr/>
        </p:nvSpPr>
        <p:spPr>
          <a:xfrm>
            <a:off x="10638422" y="2056233"/>
            <a:ext cx="799078" cy="799077"/>
          </a:xfrm>
          <a:prstGeom prst="ellipse">
            <a:avLst/>
          </a:prstGeom>
          <a:solidFill>
            <a:srgbClr val="BEE1FA"/>
          </a:solidFill>
          <a:ln w="25400">
            <a:solidFill>
              <a:srgbClr val="00A8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09" name="Shape 109"/>
          <p:cNvSpPr/>
          <p:nvPr/>
        </p:nvSpPr>
        <p:spPr>
          <a:xfrm>
            <a:off x="9428840" y="3972767"/>
            <a:ext cx="799078" cy="799077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10" name="Shape 110"/>
          <p:cNvSpPr/>
          <p:nvPr/>
        </p:nvSpPr>
        <p:spPr>
          <a:xfrm>
            <a:off x="12066023" y="3972767"/>
            <a:ext cx="799078" cy="799077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11" name="Shape 111"/>
          <p:cNvSpPr/>
          <p:nvPr/>
        </p:nvSpPr>
        <p:spPr>
          <a:xfrm>
            <a:off x="9428840" y="5889300"/>
            <a:ext cx="799078" cy="799078"/>
          </a:xfrm>
          <a:prstGeom prst="ellipse">
            <a:avLst/>
          </a:prstGeom>
          <a:solidFill>
            <a:srgbClr val="EEBEBE"/>
          </a:solidFill>
          <a:ln w="25400">
            <a:solidFill>
              <a:srgbClr val="E84118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12" name="Shape 112"/>
          <p:cNvSpPr/>
          <p:nvPr/>
        </p:nvSpPr>
        <p:spPr>
          <a:xfrm>
            <a:off x="6746606" y="3907536"/>
            <a:ext cx="487275" cy="929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3" name="Shape 113"/>
          <p:cNvSpPr/>
          <p:nvPr/>
        </p:nvSpPr>
        <p:spPr>
          <a:xfrm>
            <a:off x="12221925" y="5824070"/>
            <a:ext cx="487274" cy="929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114" name="Connector 114"/>
          <p:cNvCxnSpPr>
            <a:stCxn id="112" idx="0"/>
            <a:endCxn id="107" idx="0"/>
          </p:cNvCxnSpPr>
          <p:nvPr/>
        </p:nvCxnSpPr>
        <p:spPr>
          <a:xfrm flipV="1">
            <a:off x="6990243" y="2455771"/>
            <a:ext cx="1" cy="1916535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15" name="Connector 115"/>
          <p:cNvCxnSpPr>
            <a:stCxn id="107" idx="0"/>
            <a:endCxn id="106" idx="0"/>
          </p:cNvCxnSpPr>
          <p:nvPr/>
        </p:nvCxnSpPr>
        <p:spPr>
          <a:xfrm flipV="1">
            <a:off x="6990243" y="539238"/>
            <a:ext cx="2023860" cy="191653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16" name="Connector 116"/>
          <p:cNvCxnSpPr>
            <a:stCxn id="108" idx="0"/>
            <a:endCxn id="106" idx="0"/>
          </p:cNvCxnSpPr>
          <p:nvPr/>
        </p:nvCxnSpPr>
        <p:spPr>
          <a:xfrm flipH="1" flipV="1">
            <a:off x="9014102" y="539238"/>
            <a:ext cx="2023859" cy="191653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17" name="Connector 117"/>
          <p:cNvCxnSpPr>
            <a:stCxn id="109" idx="0"/>
            <a:endCxn id="108" idx="0"/>
          </p:cNvCxnSpPr>
          <p:nvPr/>
        </p:nvCxnSpPr>
        <p:spPr>
          <a:xfrm flipV="1">
            <a:off x="9828378" y="2455771"/>
            <a:ext cx="1209583" cy="1916535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18" name="Connector 118"/>
          <p:cNvCxnSpPr>
            <a:stCxn id="110" idx="0"/>
            <a:endCxn id="108" idx="0"/>
          </p:cNvCxnSpPr>
          <p:nvPr/>
        </p:nvCxnSpPr>
        <p:spPr>
          <a:xfrm flipH="1" flipV="1">
            <a:off x="11037960" y="2455771"/>
            <a:ext cx="1427603" cy="1916535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19" name="Connector 119"/>
          <p:cNvCxnSpPr>
            <a:stCxn id="111" idx="0"/>
            <a:endCxn id="109" idx="0"/>
          </p:cNvCxnSpPr>
          <p:nvPr/>
        </p:nvCxnSpPr>
        <p:spPr>
          <a:xfrm flipV="1">
            <a:off x="9828378" y="4372305"/>
            <a:ext cx="1" cy="1916535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20" name="Connector 120"/>
          <p:cNvCxnSpPr>
            <a:stCxn id="113" idx="0"/>
            <a:endCxn id="110" idx="0"/>
          </p:cNvCxnSpPr>
          <p:nvPr/>
        </p:nvCxnSpPr>
        <p:spPr>
          <a:xfrm flipV="1">
            <a:off x="12465562" y="4372305"/>
            <a:ext cx="1" cy="1916534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121" name="Shape 121"/>
          <p:cNvSpPr/>
          <p:nvPr/>
        </p:nvSpPr>
        <p:spPr>
          <a:xfrm>
            <a:off x="5713287" y="2195421"/>
            <a:ext cx="87873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solidFill>
                  <a:srgbClr val="4CD137"/>
                </a:solidFill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122" name="Shape 122"/>
          <p:cNvSpPr/>
          <p:nvPr/>
        </p:nvSpPr>
        <p:spPr>
          <a:xfrm>
            <a:off x="8551423" y="4111955"/>
            <a:ext cx="87873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solidFill>
                  <a:srgbClr val="4CD137"/>
                </a:solidFill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123" name="Shape 123"/>
          <p:cNvSpPr/>
          <p:nvPr/>
        </p:nvSpPr>
        <p:spPr>
          <a:xfrm>
            <a:off x="11188606" y="4111955"/>
            <a:ext cx="87873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solidFill>
                  <a:srgbClr val="4CD137"/>
                </a:solidFill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124" name="Shape 124"/>
          <p:cNvSpPr/>
          <p:nvPr/>
        </p:nvSpPr>
        <p:spPr>
          <a:xfrm>
            <a:off x="11430235" y="2195421"/>
            <a:ext cx="116647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solidFill>
                  <a:srgbClr val="00A8FF"/>
                </a:solidFill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125" name="Shape 125"/>
          <p:cNvSpPr/>
          <p:nvPr/>
        </p:nvSpPr>
        <p:spPr>
          <a:xfrm>
            <a:off x="9406375" y="278888"/>
            <a:ext cx="116647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solidFill>
                  <a:srgbClr val="00A8FF"/>
                </a:solidFill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126" name="Shape 126"/>
          <p:cNvSpPr/>
          <p:nvPr/>
        </p:nvSpPr>
        <p:spPr>
          <a:xfrm>
            <a:off x="8866738" y="6028489"/>
            <a:ext cx="57881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solidFill>
                  <a:srgbClr val="E84118"/>
                </a:solidFill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dissolve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Class="entr" nodeType="after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8" dur="199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9"/>
                            </p:stCondLst>
                            <p:childTnLst>
                              <p:par>
                                <p:cTn id="20" presetClass="entr" nodeType="after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99"/>
                            </p:stCondLst>
                            <p:childTnLst>
                              <p:par>
                                <p:cTn id="25" presetClass="entr" nodeType="after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3" dur="199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99"/>
                            </p:stCondLst>
                            <p:childTnLst>
                              <p:par>
                                <p:cTn id="35" presetClass="entr" nodeType="after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1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3" dur="199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99"/>
                            </p:stCondLst>
                            <p:childTnLst>
                              <p:par>
                                <p:cTn id="45" presetClass="entr" nodeType="after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99"/>
                            </p:stCondLst>
                            <p:childTnLst>
                              <p:par>
                                <p:cTn id="50" presetClass="entr" nodeType="afterEffect" presetSubtype="16" presetID="23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Subtype="1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8" dur="199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99"/>
                            </p:stCondLst>
                            <p:childTnLst>
                              <p:par>
                                <p:cTn id="60" presetClass="entr" nodeType="afterEffect" presetSubtype="16" presetID="23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9"/>
                            </p:stCondLst>
                            <p:childTnLst>
                              <p:par>
                                <p:cTn id="65" presetClass="entr" nodeType="afterEffect" presetSubtype="16" presetID="23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ntr" nodeType="clickEffect" presetSubtype="1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73" dur="199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99"/>
                            </p:stCondLst>
                            <p:childTnLst>
                              <p:par>
                                <p:cTn id="75" presetClass="entr" nodeType="afterEffect" presetSubtype="16" presetID="23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99"/>
                            </p:stCondLst>
                            <p:childTnLst>
                              <p:par>
                                <p:cTn id="80" presetClass="entr" nodeType="afterEffect" presetSubtype="16" presetID="23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Class="entr" nodeType="clickEffect" presetSubtype="1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88" dur="199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99"/>
                            </p:stCondLst>
                            <p:childTnLst>
                              <p:par>
                                <p:cTn id="90" presetClass="entr" nodeType="afterEffect" presetSubtype="16" presetID="23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99"/>
                            </p:stCondLst>
                            <p:childTnLst>
                              <p:par>
                                <p:cTn id="95" presetClass="entr" nodeType="afterEffect" presetSubtype="16" presetID="23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1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03" dur="199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9"/>
                            </p:stCondLst>
                            <p:childTnLst>
                              <p:par>
                                <p:cTn id="105" presetClass="entr" nodeType="afterEffect" presetSubtype="16" presetID="23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6" grpId="1"/>
      <p:bldP build="whole" bldLvl="1" animBg="1" rev="0" advAuto="0" spid="113" grpId="21"/>
      <p:bldP build="whole" bldLvl="1" animBg="1" rev="0" advAuto="0" spid="112" grpId="7"/>
      <p:bldP build="whole" bldLvl="1" animBg="1" rev="0" advAuto="0" spid="119" grpId="14"/>
      <p:bldP build="whole" bldLvl="1" animBg="1" rev="0" advAuto="0" spid="126" grpId="16"/>
      <p:bldP build="whole" bldLvl="1" animBg="1" rev="0" advAuto="0" spid="122" grpId="13"/>
      <p:bldP build="whole" bldLvl="1" animBg="1" rev="0" advAuto="0" spid="116" grpId="8"/>
      <p:bldP build="whole" bldLvl="1" animBg="1" rev="0" advAuto="0" spid="110" grpId="18"/>
      <p:bldP build="whole" bldLvl="1" animBg="1" rev="0" advAuto="0" spid="125" grpId="2"/>
      <p:bldP build="whole" bldLvl="1" animBg="1" rev="0" advAuto="0" spid="118" grpId="17"/>
      <p:bldP build="whole" bldLvl="1" animBg="1" rev="0" advAuto="0" spid="124" grpId="10"/>
      <p:bldP build="whole" bldLvl="1" animBg="1" rev="0" advAuto="0" spid="114" grpId="6"/>
      <p:bldP build="whole" bldLvl="1" animBg="1" rev="0" advAuto="0" spid="108" grpId="9"/>
      <p:bldP build="whole" bldLvl="1" animBg="1" rev="0" advAuto="0" spid="115" grpId="3"/>
      <p:bldP build="whole" bldLvl="1" animBg="1" rev="0" advAuto="0" spid="109" grpId="12"/>
      <p:bldP build="whole" bldLvl="1" animBg="1" rev="0" advAuto="0" spid="120" grpId="20"/>
      <p:bldP build="whole" bldLvl="1" animBg="1" rev="0" advAuto="0" spid="107" grpId="4"/>
      <p:bldP build="whole" bldLvl="1" animBg="1" rev="0" advAuto="0" spid="111" grpId="15"/>
      <p:bldP build="whole" bldLvl="1" animBg="1" rev="0" advAuto="0" spid="121" grpId="5"/>
      <p:bldP build="whole" bldLvl="1" animBg="1" rev="0" advAuto="0" spid="117" grpId="11"/>
      <p:bldP build="whole" bldLvl="1" animBg="1" rev="0" advAuto="0" spid="123" grpId="19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/>
        </p:nvSpPr>
        <p:spPr>
          <a:xfrm>
            <a:off x="8614564" y="134649"/>
            <a:ext cx="799077" cy="799077"/>
          </a:xfrm>
          <a:prstGeom prst="ellipse">
            <a:avLst/>
          </a:prstGeom>
          <a:solidFill>
            <a:srgbClr val="BEE1FA"/>
          </a:solidFill>
          <a:ln w="25400">
            <a:solidFill>
              <a:srgbClr val="00A8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52" name="Shape 152"/>
          <p:cNvSpPr/>
          <p:nvPr/>
        </p:nvSpPr>
        <p:spPr>
          <a:xfrm>
            <a:off x="6990243" y="817652"/>
            <a:ext cx="1724522" cy="16330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153" name="Shape 153"/>
          <p:cNvSpPr/>
          <p:nvPr/>
        </p:nvSpPr>
        <p:spPr>
          <a:xfrm>
            <a:off x="9313352" y="817568"/>
            <a:ext cx="1724610" cy="1633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4400" y="14400"/>
                  <a:pt x="7200" y="7200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135" name="Group 135"/>
          <p:cNvGrpSpPr/>
          <p:nvPr/>
        </p:nvGrpSpPr>
        <p:grpSpPr>
          <a:xfrm>
            <a:off x="5713287" y="2051183"/>
            <a:ext cx="1676495" cy="2780841"/>
            <a:chOff x="0" y="0"/>
            <a:chExt cx="1676493" cy="2780840"/>
          </a:xfrm>
        </p:grpSpPr>
        <p:sp>
          <p:nvSpPr>
            <p:cNvPr id="131" name="Shape 131"/>
            <p:cNvSpPr/>
            <p:nvPr/>
          </p:nvSpPr>
          <p:spPr>
            <a:xfrm>
              <a:off x="877417" y="0"/>
              <a:ext cx="799077" cy="799077"/>
            </a:xfrm>
            <a:prstGeom prst="ellipse">
              <a:avLst/>
            </a:prstGeom>
            <a:solidFill>
              <a:srgbClr val="C3EBC9"/>
            </a:solidFill>
            <a:ln w="25400" cap="flat">
              <a:solidFill>
                <a:srgbClr val="4CD13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32" name="Shape 132"/>
            <p:cNvSpPr/>
            <p:nvPr/>
          </p:nvSpPr>
          <p:spPr>
            <a:xfrm>
              <a:off x="1033319" y="1851302"/>
              <a:ext cx="487274" cy="9295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lvl1pPr>
            </a:lstStyle>
            <a:p>
              <a:pPr/>
              <a:r>
                <a:t>7</a:t>
              </a:r>
            </a:p>
          </p:txBody>
        </p:sp>
        <p:cxnSp>
          <p:nvCxnSpPr>
            <p:cNvPr id="133" name="Connector 133"/>
            <p:cNvCxnSpPr>
              <a:stCxn id="132" idx="0"/>
              <a:endCxn id="131" idx="0"/>
            </p:cNvCxnSpPr>
            <p:nvPr/>
          </p:nvCxnSpPr>
          <p:spPr>
            <a:xfrm flipV="1">
              <a:off x="1276955" y="399538"/>
              <a:ext cx="1" cy="1916534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134" name="Shape 134"/>
            <p:cNvSpPr/>
            <p:nvPr/>
          </p:nvSpPr>
          <p:spPr>
            <a:xfrm>
              <a:off x="0" y="139188"/>
              <a:ext cx="878739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400">
                  <a:solidFill>
                    <a:srgbClr val="4CD137"/>
                  </a:solidFill>
                </a:defRPr>
              </a:lvl1pPr>
            </a:lstStyle>
            <a:p>
              <a:pPr/>
              <a:r>
                <a:t>beep</a:t>
              </a:r>
            </a:p>
          </p:txBody>
        </p:sp>
      </p:grpSp>
      <p:sp>
        <p:nvSpPr>
          <p:cNvPr id="136" name="Shape 136"/>
          <p:cNvSpPr/>
          <p:nvPr/>
        </p:nvSpPr>
        <p:spPr>
          <a:xfrm>
            <a:off x="9406375" y="273837"/>
            <a:ext cx="116647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solidFill>
                  <a:srgbClr val="00A8FF"/>
                </a:solidFill>
              </a:defRPr>
            </a:lvl1pPr>
          </a:lstStyle>
          <a:p>
            <a:pPr/>
            <a:r>
              <a:t>choose</a:t>
            </a:r>
          </a:p>
        </p:txBody>
      </p:sp>
      <p:grpSp>
        <p:nvGrpSpPr>
          <p:cNvPr id="150" name="Group 150"/>
          <p:cNvGrpSpPr/>
          <p:nvPr/>
        </p:nvGrpSpPr>
        <p:grpSpPr>
          <a:xfrm>
            <a:off x="8551423" y="2051183"/>
            <a:ext cx="4313678" cy="4697375"/>
            <a:chOff x="0" y="0"/>
            <a:chExt cx="4313677" cy="4697374"/>
          </a:xfrm>
        </p:grpSpPr>
        <p:sp>
          <p:nvSpPr>
            <p:cNvPr id="137" name="Shape 137"/>
            <p:cNvSpPr/>
            <p:nvPr/>
          </p:nvSpPr>
          <p:spPr>
            <a:xfrm>
              <a:off x="2087000" y="0"/>
              <a:ext cx="799077" cy="799077"/>
            </a:xfrm>
            <a:prstGeom prst="ellipse">
              <a:avLst/>
            </a:prstGeom>
            <a:solidFill>
              <a:srgbClr val="BEE1FA"/>
            </a:solidFill>
            <a:ln w="25400" cap="flat">
              <a:solidFill>
                <a:srgbClr val="00A8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38" name="Shape 138"/>
            <p:cNvSpPr/>
            <p:nvPr/>
          </p:nvSpPr>
          <p:spPr>
            <a:xfrm>
              <a:off x="877417" y="1916533"/>
              <a:ext cx="799077" cy="799077"/>
            </a:xfrm>
            <a:prstGeom prst="ellipse">
              <a:avLst/>
            </a:prstGeom>
            <a:solidFill>
              <a:srgbClr val="C3EBC9"/>
            </a:solidFill>
            <a:ln w="25400" cap="flat">
              <a:solidFill>
                <a:srgbClr val="4CD13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39" name="Shape 139"/>
            <p:cNvSpPr/>
            <p:nvPr/>
          </p:nvSpPr>
          <p:spPr>
            <a:xfrm>
              <a:off x="3514600" y="1916533"/>
              <a:ext cx="799078" cy="799077"/>
            </a:xfrm>
            <a:prstGeom prst="ellipse">
              <a:avLst/>
            </a:prstGeom>
            <a:solidFill>
              <a:srgbClr val="C3EBC9"/>
            </a:solidFill>
            <a:ln w="25400" cap="flat">
              <a:solidFill>
                <a:srgbClr val="4CD13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40" name="Shape 140"/>
            <p:cNvSpPr/>
            <p:nvPr/>
          </p:nvSpPr>
          <p:spPr>
            <a:xfrm>
              <a:off x="877417" y="3833067"/>
              <a:ext cx="799077" cy="799077"/>
            </a:xfrm>
            <a:prstGeom prst="ellipse">
              <a:avLst/>
            </a:prstGeom>
            <a:solidFill>
              <a:srgbClr val="E84118">
                <a:alpha val="24674"/>
              </a:srgbClr>
            </a:solidFill>
            <a:ln w="25400" cap="flat">
              <a:solidFill>
                <a:srgbClr val="E84118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sp>
          <p:nvSpPr>
            <p:cNvPr id="141" name="Shape 141"/>
            <p:cNvSpPr/>
            <p:nvPr/>
          </p:nvSpPr>
          <p:spPr>
            <a:xfrm>
              <a:off x="3670502" y="3767836"/>
              <a:ext cx="487274" cy="9295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lvl1pPr>
            </a:lstStyle>
            <a:p>
              <a:pPr/>
              <a:r>
                <a:t>3</a:t>
              </a:r>
            </a:p>
          </p:txBody>
        </p:sp>
        <p:cxnSp>
          <p:nvCxnSpPr>
            <p:cNvPr id="142" name="Connector 142"/>
            <p:cNvCxnSpPr>
              <a:stCxn id="138" idx="0"/>
              <a:endCxn id="137" idx="0"/>
            </p:cNvCxnSpPr>
            <p:nvPr/>
          </p:nvCxnSpPr>
          <p:spPr>
            <a:xfrm flipV="1">
              <a:off x="1276955" y="399538"/>
              <a:ext cx="1209584" cy="1916534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43" name="Connector 143"/>
            <p:cNvCxnSpPr>
              <a:stCxn id="139" idx="0"/>
              <a:endCxn id="137" idx="0"/>
            </p:cNvCxnSpPr>
            <p:nvPr/>
          </p:nvCxnSpPr>
          <p:spPr>
            <a:xfrm flipH="1" flipV="1">
              <a:off x="2486538" y="399538"/>
              <a:ext cx="1427602" cy="1916534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44" name="Connector 144"/>
            <p:cNvCxnSpPr>
              <a:stCxn id="140" idx="0"/>
              <a:endCxn id="138" idx="0"/>
            </p:cNvCxnSpPr>
            <p:nvPr/>
          </p:nvCxnSpPr>
          <p:spPr>
            <a:xfrm flipV="1">
              <a:off x="1276955" y="2316071"/>
              <a:ext cx="1" cy="1916535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45" name="Connector 145"/>
            <p:cNvCxnSpPr>
              <a:stCxn id="141" idx="0"/>
              <a:endCxn id="139" idx="0"/>
            </p:cNvCxnSpPr>
            <p:nvPr/>
          </p:nvCxnSpPr>
          <p:spPr>
            <a:xfrm flipV="1">
              <a:off x="3914139" y="2316071"/>
              <a:ext cx="1" cy="1916535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146" name="Shape 146"/>
            <p:cNvSpPr/>
            <p:nvPr/>
          </p:nvSpPr>
          <p:spPr>
            <a:xfrm>
              <a:off x="0" y="2055721"/>
              <a:ext cx="878739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400">
                  <a:solidFill>
                    <a:srgbClr val="4CD137"/>
                  </a:solidFill>
                </a:defRPr>
              </a:lvl1pPr>
            </a:lstStyle>
            <a:p>
              <a:pPr/>
              <a:r>
                <a:t>beep</a:t>
              </a:r>
            </a:p>
          </p:txBody>
        </p:sp>
        <p:sp>
          <p:nvSpPr>
            <p:cNvPr id="147" name="Shape 147"/>
            <p:cNvSpPr/>
            <p:nvPr/>
          </p:nvSpPr>
          <p:spPr>
            <a:xfrm>
              <a:off x="2637183" y="2055721"/>
              <a:ext cx="878739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400">
                  <a:solidFill>
                    <a:srgbClr val="4CD137"/>
                  </a:solidFill>
                </a:defRPr>
              </a:lvl1pPr>
            </a:lstStyle>
            <a:p>
              <a:pPr/>
              <a:r>
                <a:t>beep</a:t>
              </a:r>
            </a:p>
          </p:txBody>
        </p:sp>
        <p:sp>
          <p:nvSpPr>
            <p:cNvPr id="148" name="Shape 148"/>
            <p:cNvSpPr/>
            <p:nvPr/>
          </p:nvSpPr>
          <p:spPr>
            <a:xfrm>
              <a:off x="2878812" y="139188"/>
              <a:ext cx="1166470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400">
                  <a:solidFill>
                    <a:srgbClr val="00A8FF"/>
                  </a:solidFill>
                </a:defRPr>
              </a:lvl1pPr>
            </a:lstStyle>
            <a:p>
              <a:pPr/>
              <a:r>
                <a:t>choose</a:t>
              </a:r>
            </a:p>
          </p:txBody>
        </p:sp>
        <p:sp>
          <p:nvSpPr>
            <p:cNvPr id="149" name="Shape 149"/>
            <p:cNvSpPr/>
            <p:nvPr/>
          </p:nvSpPr>
          <p:spPr>
            <a:xfrm>
              <a:off x="315315" y="3972255"/>
              <a:ext cx="578817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400">
                  <a:solidFill>
                    <a:srgbClr val="E84118"/>
                  </a:solidFill>
                </a:defRPr>
              </a:lvl1pPr>
            </a:lstStyle>
            <a:p>
              <a:pPr/>
              <a:r>
                <a:t>fail</a:t>
              </a:r>
            </a:p>
          </p:txBody>
        </p:sp>
      </p:grpSp>
      <p:sp>
        <p:nvSpPr>
          <p:cNvPr id="151" name="Shape 151"/>
          <p:cNvSpPr/>
          <p:nvPr/>
        </p:nvSpPr>
        <p:spPr>
          <a:xfrm>
            <a:off x="414062" y="4876800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4CD137"/>
                </a:solidFill>
              </a:rPr>
              <a:t>beep</a:t>
            </a:r>
            <a:r>
              <a:t> (); m / 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</a:t>
            </a:r>
            <a:r>
              <a:rPr>
                <a:solidFill>
                  <a:srgbClr val="E84118"/>
                </a:solidFill>
              </a:rPr>
              <a:t>0</a:t>
            </a:r>
            <a:r>
              <a:t> 4)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after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178678 -0.000035" origin="layout" pathEditMode="relative">
                                      <p:cBhvr>
                                        <p:cTn id="6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mph" nodeType="withEffect" presetSubtype="0" presetID="8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5584494">
                                      <p:cBhvr>
                                        <p:cTn id="9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path" nodeType="withEffect" presetSubtype="0" presetID="-1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178590 -0.000498" origin="layout" pathEditMode="relative">
                                      <p:cBhvr>
                                        <p:cTn id="12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mph" nodeType="withEffect" presetSubtype="0" presetID="8" grpId="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-5578208">
                                      <p:cBhvr>
                                        <p:cTn id="1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path" nodeType="withEffect" presetSubtype="0" presetID="-1" grpId="5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311171 0.000651" origin="layout" pathEditMode="relative">
                                      <p:cBhvr>
                                        <p:cTn id="1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path" nodeType="withEffect" presetSubtype="0" presetID="-1" grpId="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310692 -0.000000" origin="layout" pathEditMode="relative">
                                      <p:cBhvr>
                                        <p:cTn id="21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2" grpId="4"/>
      <p:bldP build="whole" bldLvl="1" animBg="1" rev="0" advAuto="0" spid="153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/>
          <p:nvPr/>
        </p:nvSpPr>
        <p:spPr>
          <a:xfrm>
            <a:off x="0" y="820169"/>
            <a:ext cx="13004801" cy="1625601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156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200" y="1271019"/>
            <a:ext cx="9042400" cy="723901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hape 157"/>
          <p:cNvSpPr/>
          <p:nvPr/>
        </p:nvSpPr>
        <p:spPr>
          <a:xfrm>
            <a:off x="0" y="2445769"/>
            <a:ext cx="13004801" cy="6507379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58" name="Shape 158"/>
          <p:cNvSpPr/>
          <p:nvPr/>
        </p:nvSpPr>
        <p:spPr>
          <a:xfrm>
            <a:off x="10950600" y="223269"/>
            <a:ext cx="20542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signature</a:t>
            </a:r>
          </a:p>
        </p:txBody>
      </p:sp>
      <p:sp>
        <p:nvSpPr>
          <p:cNvPr id="159" name="Shape 159"/>
          <p:cNvSpPr/>
          <p:nvPr/>
        </p:nvSpPr>
        <p:spPr>
          <a:xfrm>
            <a:off x="9215526" y="8800747"/>
            <a:ext cx="3789274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equational theory</a:t>
            </a:r>
          </a:p>
        </p:txBody>
      </p:sp>
      <p:pic>
        <p:nvPicPr>
          <p:cNvPr id="160" name="pasted-image.pdf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704850" y="2968958"/>
            <a:ext cx="11595100" cy="538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slow" advClick="1" p14:dur="2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7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7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Class="exit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14" dur="1000" fill="hold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Class="exit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18" dur="1000" fill="hold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9" grpId="2"/>
      <p:bldP build="whole" bldLvl="1" animBg="1" rev="0" advAuto="0" spid="157" grpId="1"/>
      <p:bldP build="whole" bldLvl="1" animBg="1" rev="0" advAuto="0" spid="158" grpId="3"/>
      <p:bldP build="whole" bldLvl="1" animBg="1" rev="0" advAuto="0" spid="155" grpId="4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 rot="88185">
            <a:off x="3107050" y="184175"/>
            <a:ext cx="6783534" cy="951215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/>
        </p:nvSpPr>
        <p:spPr>
          <a:xfrm>
            <a:off x="-1" y="2438400"/>
            <a:ext cx="13004801" cy="16256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65" name="Shape 165"/>
          <p:cNvSpPr/>
          <p:nvPr/>
        </p:nvSpPr>
        <p:spPr>
          <a:xfrm>
            <a:off x="-1" y="4064000"/>
            <a:ext cx="13004801" cy="3251200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66" name="Shape 166"/>
          <p:cNvSpPr/>
          <p:nvPr/>
        </p:nvSpPr>
        <p:spPr>
          <a:xfrm>
            <a:off x="10950600" y="1841500"/>
            <a:ext cx="20542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signature</a:t>
            </a:r>
          </a:p>
        </p:txBody>
      </p:sp>
      <p:sp>
        <p:nvSpPr>
          <p:cNvPr id="167" name="Shape 167"/>
          <p:cNvSpPr/>
          <p:nvPr/>
        </p:nvSpPr>
        <p:spPr>
          <a:xfrm>
            <a:off x="9215526" y="7188200"/>
            <a:ext cx="3789274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equational theory</a:t>
            </a:r>
          </a:p>
        </p:txBody>
      </p:sp>
      <p:pic>
        <p:nvPicPr>
          <p:cNvPr id="168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08150" y="2870200"/>
            <a:ext cx="8686800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57350" y="4679950"/>
            <a:ext cx="9690100" cy="2019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/>
        </p:nvSpPr>
        <p:spPr>
          <a:xfrm>
            <a:off x="-1" y="2438400"/>
            <a:ext cx="13004801" cy="16256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72" name="Shape 172"/>
          <p:cNvSpPr/>
          <p:nvPr/>
        </p:nvSpPr>
        <p:spPr>
          <a:xfrm>
            <a:off x="-1" y="4064000"/>
            <a:ext cx="13004801" cy="3251200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173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32250" y="2889153"/>
            <a:ext cx="4737100" cy="762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81450" y="4689808"/>
            <a:ext cx="5041900" cy="205740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Shape 175"/>
          <p:cNvSpPr/>
          <p:nvPr/>
        </p:nvSpPr>
        <p:spPr>
          <a:xfrm>
            <a:off x="10950600" y="1841500"/>
            <a:ext cx="20542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signature</a:t>
            </a:r>
          </a:p>
        </p:txBody>
      </p:sp>
      <p:sp>
        <p:nvSpPr>
          <p:cNvPr id="176" name="Shape 176"/>
          <p:cNvSpPr/>
          <p:nvPr/>
        </p:nvSpPr>
        <p:spPr>
          <a:xfrm>
            <a:off x="9215526" y="7188200"/>
            <a:ext cx="3789274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equational theory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/>
        </p:nvSpPr>
        <p:spPr>
          <a:xfrm>
            <a:off x="0" y="6512611"/>
            <a:ext cx="13004801" cy="1219201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79" name="Shape 179"/>
          <p:cNvSpPr/>
          <p:nvPr/>
        </p:nvSpPr>
        <p:spPr>
          <a:xfrm>
            <a:off x="0" y="7721600"/>
            <a:ext cx="13004800" cy="12192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80" name="Shape 180"/>
          <p:cNvSpPr/>
          <p:nvPr/>
        </p:nvSpPr>
        <p:spPr>
          <a:xfrm>
            <a:off x="0" y="812800"/>
            <a:ext cx="13004801" cy="1219200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81" name="Shape 181"/>
          <p:cNvSpPr/>
          <p:nvPr/>
        </p:nvSpPr>
        <p:spPr>
          <a:xfrm>
            <a:off x="0" y="2032000"/>
            <a:ext cx="13004801" cy="24384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18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1850" y="1089059"/>
            <a:ext cx="11341100" cy="3149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7256" y="6741211"/>
            <a:ext cx="6159501" cy="1981201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Shape 184"/>
          <p:cNvSpPr/>
          <p:nvPr/>
        </p:nvSpPr>
        <p:spPr>
          <a:xfrm>
            <a:off x="-59894" y="4343400"/>
            <a:ext cx="297363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computations</a:t>
            </a:r>
          </a:p>
        </p:txBody>
      </p:sp>
      <p:sp>
        <p:nvSpPr>
          <p:cNvPr id="185" name="Shape 185"/>
          <p:cNvSpPr/>
          <p:nvPr/>
        </p:nvSpPr>
        <p:spPr>
          <a:xfrm>
            <a:off x="0" y="215900"/>
            <a:ext cx="1426922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values</a:t>
            </a:r>
          </a:p>
        </p:txBody>
      </p:sp>
      <p:sp>
        <p:nvSpPr>
          <p:cNvPr id="186" name="Shape 186"/>
          <p:cNvSpPr/>
          <p:nvPr/>
        </p:nvSpPr>
        <p:spPr>
          <a:xfrm>
            <a:off x="0" y="8813800"/>
            <a:ext cx="4007816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computation types</a:t>
            </a:r>
          </a:p>
        </p:txBody>
      </p:sp>
      <p:sp>
        <p:nvSpPr>
          <p:cNvPr id="187" name="Shape 187"/>
          <p:cNvSpPr/>
          <p:nvPr/>
        </p:nvSpPr>
        <p:spPr>
          <a:xfrm>
            <a:off x="0" y="5925922"/>
            <a:ext cx="246110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value types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Class="exit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22" dur="500" fill="hold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Class="exit" nodeType="after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26" dur="500" fill="hold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Class="exit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30" dur="500" fill="hold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Class="exit" nodeType="after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34" dur="500" fill="hold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4" grpId="8"/>
      <p:bldP build="whole" bldLvl="1" animBg="1" rev="0" advAuto="0" spid="180" grpId="6"/>
      <p:bldP build="whole" bldLvl="1" animBg="1" rev="0" advAuto="0" spid="178" grpId="2"/>
      <p:bldP build="whole" bldLvl="1" animBg="1" rev="0" advAuto="0" spid="186" grpId="4"/>
      <p:bldP build="whole" bldLvl="1" animBg="1" rev="0" advAuto="0" spid="181" grpId="7"/>
      <p:bldP build="whole" bldLvl="1" animBg="1" rev="0" advAuto="0" spid="187" grpId="1"/>
      <p:bldP build="whole" bldLvl="1" animBg="1" rev="0" advAuto="0" spid="185" grpId="5"/>
      <p:bldP build="whole" bldLvl="1" animBg="1" rev="0" advAuto="0" spid="179" grpId="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/>
        </p:nvSpPr>
        <p:spPr>
          <a:xfrm>
            <a:off x="0" y="3256305"/>
            <a:ext cx="13004801" cy="1625601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90" name="Shape 190"/>
          <p:cNvSpPr/>
          <p:nvPr/>
        </p:nvSpPr>
        <p:spPr>
          <a:xfrm>
            <a:off x="0" y="4871694"/>
            <a:ext cx="13004801" cy="1625601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91" name="Shape 191"/>
          <p:cNvSpPr/>
          <p:nvPr/>
        </p:nvSpPr>
        <p:spPr>
          <a:xfrm>
            <a:off x="0" y="6370294"/>
            <a:ext cx="4212184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computation typing</a:t>
            </a:r>
          </a:p>
        </p:txBody>
      </p:sp>
      <p:sp>
        <p:nvSpPr>
          <p:cNvPr id="192" name="Shape 192"/>
          <p:cNvSpPr/>
          <p:nvPr/>
        </p:nvSpPr>
        <p:spPr>
          <a:xfrm>
            <a:off x="-1" y="2659405"/>
            <a:ext cx="2665477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value typing</a:t>
            </a:r>
          </a:p>
        </p:txBody>
      </p:sp>
      <p:pic>
        <p:nvPicPr>
          <p:cNvPr id="193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82850" y="3662705"/>
            <a:ext cx="8039100" cy="248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76450" y="2292350"/>
            <a:ext cx="8851900" cy="5168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2300" y="2374900"/>
            <a:ext cx="9220200" cy="5003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7250" y="2305050"/>
            <a:ext cx="112903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/>
        </p:nvSpPr>
        <p:spPr>
          <a:xfrm>
            <a:off x="0" y="3256305"/>
            <a:ext cx="13004801" cy="1625601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02" name="Shape 202"/>
          <p:cNvSpPr/>
          <p:nvPr/>
        </p:nvSpPr>
        <p:spPr>
          <a:xfrm>
            <a:off x="0" y="4871694"/>
            <a:ext cx="13004801" cy="1625601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203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29150" y="3536950"/>
            <a:ext cx="3746500" cy="2679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8550" y="2736850"/>
            <a:ext cx="10807700" cy="4279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7800" y="3194050"/>
            <a:ext cx="7569200" cy="3365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11350" y="2736850"/>
            <a:ext cx="9182100" cy="4279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00" y="2197100"/>
            <a:ext cx="10464800" cy="5359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/>
        </p:nvSpPr>
        <p:spPr>
          <a:xfrm>
            <a:off x="0" y="2069800"/>
            <a:ext cx="13004801" cy="1625601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14" name="Shape 214"/>
          <p:cNvSpPr/>
          <p:nvPr/>
        </p:nvSpPr>
        <p:spPr>
          <a:xfrm>
            <a:off x="0" y="4292300"/>
            <a:ext cx="13004801" cy="1625601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215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3400" y="2616200"/>
            <a:ext cx="11938000" cy="4521200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Shape 216"/>
          <p:cNvSpPr/>
          <p:nvPr/>
        </p:nvSpPr>
        <p:spPr>
          <a:xfrm>
            <a:off x="-1" y="3695400"/>
            <a:ext cx="340294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>
              <a:defRPr>
                <a:solidFill>
                  <a:srgbClr val="2F3640"/>
                </a:solidFill>
              </a:defRPr>
            </a:pPr>
            <a:r>
              <a:rPr>
                <a:solidFill>
                  <a:srgbClr val="E84118"/>
                </a:solidFill>
              </a:rPr>
              <a:t>operation cases</a:t>
            </a:r>
          </a:p>
        </p:txBody>
      </p:sp>
      <p:sp>
        <p:nvSpPr>
          <p:cNvPr id="217" name="Shape 217"/>
          <p:cNvSpPr/>
          <p:nvPr/>
        </p:nvSpPr>
        <p:spPr>
          <a:xfrm>
            <a:off x="-1" y="1472900"/>
            <a:ext cx="216575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>
              <a:defRPr>
                <a:solidFill>
                  <a:srgbClr val="2F3640"/>
                </a:solidFill>
              </a:defRPr>
            </a:pPr>
            <a:r>
              <a:rPr>
                <a:solidFill>
                  <a:srgbClr val="00A8FF"/>
                </a:solidFill>
              </a:rPr>
              <a:t>base case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7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7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6" dur="7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8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0" dur="7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22" presetClass="exit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23" dur="700" fill="hold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Class="exit" nodeType="after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27" dur="700" fill="hold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6" grpId="3"/>
      <p:bldP build="whole" bldLvl="1" animBg="1" rev="0" advAuto="0" spid="217" grpId="1"/>
      <p:bldP build="whole" bldLvl="1" animBg="1" rev="0" advAuto="0" spid="214" grpId="4"/>
      <p:bldP build="whole" bldLvl="1" animBg="1" rev="0" advAuto="0" spid="213" grpId="6"/>
      <p:bldP build="whole" bldLvl="1" animBg="1" rev="0" advAuto="0" spid="213" grpId="2"/>
      <p:bldP build="whole" bldLvl="1" animBg="1" rev="0" advAuto="0" spid="217" grpId="5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60600" y="844550"/>
            <a:ext cx="8483600" cy="8064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 rot="88185">
            <a:off x="3107050" y="184175"/>
            <a:ext cx="6783534" cy="951215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 me</a:t>
            </a:r>
          </a:p>
          <a:p>
            <a:pPr/>
            <a:r>
              <a:rPr>
                <a:solidFill>
                  <a:srgbClr val="FBC531"/>
                </a:solidFill>
                <a:latin typeface="+mj-lt"/>
                <a:ea typeface="+mj-ea"/>
                <a:cs typeface="+mj-cs"/>
                <a:sym typeface="Avenir Next Heavy"/>
              </a:rPr>
              <a:t>handle</a:t>
            </a:r>
            <a:r>
              <a:t> this!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4CD137"/>
                </a:solidFill>
              </a:rPr>
              <a:t>beep</a:t>
            </a:r>
            <a:r>
              <a:t> (); m / 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</a:t>
            </a:r>
            <a:r>
              <a:rPr>
                <a:solidFill>
                  <a:srgbClr val="E84118"/>
                </a:solidFill>
              </a:rPr>
              <a:t>0</a:t>
            </a:r>
            <a:r>
              <a:t> 4)</a:t>
            </a:r>
          </a:p>
        </p:txBody>
      </p:sp>
      <p:sp>
        <p:nvSpPr>
          <p:cNvPr id="226" name="Shape 226"/>
          <p:cNvSpPr/>
          <p:nvPr/>
        </p:nvSpPr>
        <p:spPr>
          <a:xfrm>
            <a:off x="9554973" y="2416508"/>
            <a:ext cx="598410" cy="598411"/>
          </a:xfrm>
          <a:prstGeom prst="ellipse">
            <a:avLst/>
          </a:prstGeom>
          <a:solidFill>
            <a:srgbClr val="BEE1FA"/>
          </a:solidFill>
          <a:ln w="25400">
            <a:solidFill>
              <a:srgbClr val="00A8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27" name="Shape 227"/>
          <p:cNvSpPr/>
          <p:nvPr/>
        </p:nvSpPr>
        <p:spPr>
          <a:xfrm>
            <a:off x="8039352" y="3851755"/>
            <a:ext cx="598411" cy="598411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28" name="Shape 228"/>
          <p:cNvSpPr/>
          <p:nvPr/>
        </p:nvSpPr>
        <p:spPr>
          <a:xfrm>
            <a:off x="11070593" y="3851755"/>
            <a:ext cx="598410" cy="598411"/>
          </a:xfrm>
          <a:prstGeom prst="ellipse">
            <a:avLst/>
          </a:prstGeom>
          <a:solidFill>
            <a:srgbClr val="BEE1FA"/>
          </a:solidFill>
          <a:ln w="25400">
            <a:solidFill>
              <a:srgbClr val="00A8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29" name="Shape 229"/>
          <p:cNvSpPr/>
          <p:nvPr/>
        </p:nvSpPr>
        <p:spPr>
          <a:xfrm>
            <a:off x="10164765" y="5287002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30" name="Shape 230"/>
          <p:cNvSpPr/>
          <p:nvPr/>
        </p:nvSpPr>
        <p:spPr>
          <a:xfrm>
            <a:off x="12139690" y="5287002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31" name="Shape 231"/>
          <p:cNvSpPr/>
          <p:nvPr/>
        </p:nvSpPr>
        <p:spPr>
          <a:xfrm>
            <a:off x="10164765" y="6722250"/>
            <a:ext cx="598411" cy="598410"/>
          </a:xfrm>
          <a:prstGeom prst="ellipse">
            <a:avLst/>
          </a:prstGeom>
          <a:solidFill>
            <a:srgbClr val="EEBEBE"/>
          </a:solidFill>
          <a:ln w="25400">
            <a:solidFill>
              <a:srgbClr val="E84118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32" name="Shape 232"/>
          <p:cNvSpPr/>
          <p:nvPr/>
        </p:nvSpPr>
        <p:spPr>
          <a:xfrm>
            <a:off x="8156103" y="5238153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33" name="Shape 233"/>
          <p:cNvSpPr/>
          <p:nvPr/>
        </p:nvSpPr>
        <p:spPr>
          <a:xfrm>
            <a:off x="12256441" y="6673399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234" name="Connector 234"/>
          <p:cNvCxnSpPr>
            <a:stCxn id="232" idx="0"/>
            <a:endCxn id="227" idx="0"/>
          </p:cNvCxnSpPr>
          <p:nvPr/>
        </p:nvCxnSpPr>
        <p:spPr>
          <a:xfrm flipH="1" flipV="1">
            <a:off x="8338557" y="4150960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235" name="Connector 235"/>
          <p:cNvCxnSpPr>
            <a:stCxn id="227" idx="0"/>
            <a:endCxn id="226" idx="0"/>
          </p:cNvCxnSpPr>
          <p:nvPr/>
        </p:nvCxnSpPr>
        <p:spPr>
          <a:xfrm flipV="1">
            <a:off x="8338557" y="2715713"/>
            <a:ext cx="1515622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236" name="Connector 236"/>
          <p:cNvCxnSpPr>
            <a:stCxn id="228" idx="0"/>
            <a:endCxn id="226" idx="0"/>
          </p:cNvCxnSpPr>
          <p:nvPr/>
        </p:nvCxnSpPr>
        <p:spPr>
          <a:xfrm flipH="1" flipV="1">
            <a:off x="9854178" y="2715713"/>
            <a:ext cx="1515620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237" name="Connector 237"/>
          <p:cNvCxnSpPr>
            <a:stCxn id="229" idx="0"/>
            <a:endCxn id="228" idx="0"/>
          </p:cNvCxnSpPr>
          <p:nvPr/>
        </p:nvCxnSpPr>
        <p:spPr>
          <a:xfrm flipV="1">
            <a:off x="10463970" y="4150960"/>
            <a:ext cx="905828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238" name="Connector 238"/>
          <p:cNvCxnSpPr>
            <a:stCxn id="230" idx="0"/>
            <a:endCxn id="228" idx="0"/>
          </p:cNvCxnSpPr>
          <p:nvPr/>
        </p:nvCxnSpPr>
        <p:spPr>
          <a:xfrm flipH="1" flipV="1">
            <a:off x="11369797" y="4150960"/>
            <a:ext cx="1069099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239" name="Connector 239"/>
          <p:cNvCxnSpPr>
            <a:stCxn id="231" idx="0"/>
            <a:endCxn id="229" idx="0"/>
          </p:cNvCxnSpPr>
          <p:nvPr/>
        </p:nvCxnSpPr>
        <p:spPr>
          <a:xfrm flipV="1">
            <a:off x="10463970" y="5586207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240" name="Connector 240"/>
          <p:cNvCxnSpPr>
            <a:stCxn id="233" idx="0"/>
            <a:endCxn id="230" idx="0"/>
          </p:cNvCxnSpPr>
          <p:nvPr/>
        </p:nvCxnSpPr>
        <p:spPr>
          <a:xfrm flipV="1">
            <a:off x="12438894" y="5586207"/>
            <a:ext cx="2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241" name="Shape 241"/>
          <p:cNvSpPr/>
          <p:nvPr/>
        </p:nvSpPr>
        <p:spPr>
          <a:xfrm>
            <a:off x="7382275" y="3955990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42" name="Shape 242"/>
          <p:cNvSpPr/>
          <p:nvPr/>
        </p:nvSpPr>
        <p:spPr>
          <a:xfrm>
            <a:off x="9507688" y="5391237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43" name="Shape 243"/>
          <p:cNvSpPr/>
          <p:nvPr/>
        </p:nvSpPr>
        <p:spPr>
          <a:xfrm>
            <a:off x="11482613" y="5391237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44" name="Shape 244"/>
          <p:cNvSpPr/>
          <p:nvPr/>
        </p:nvSpPr>
        <p:spPr>
          <a:xfrm>
            <a:off x="11663563" y="3955990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00A8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245" name="Shape 245"/>
          <p:cNvSpPr/>
          <p:nvPr/>
        </p:nvSpPr>
        <p:spPr>
          <a:xfrm>
            <a:off x="10147942" y="2520743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00A8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246" name="Shape 246"/>
          <p:cNvSpPr/>
          <p:nvPr/>
        </p:nvSpPr>
        <p:spPr>
          <a:xfrm>
            <a:off x="9743820" y="6826484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E8411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249" name="Shape 249"/>
          <p:cNvSpPr/>
          <p:nvPr/>
        </p:nvSpPr>
        <p:spPr>
          <a:xfrm>
            <a:off x="254000" y="2695905"/>
            <a:ext cx="5372101" cy="2306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goLeft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 k</a:t>
            </a:r>
            <a:r>
              <a:rPr baseline="-5999"/>
              <a:t>1</a:t>
            </a:r>
            <a:r>
              <a:t> ()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goLeft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250" name="Shape 250"/>
          <p:cNvSpPr/>
          <p:nvPr/>
        </p:nvSpPr>
        <p:spPr>
          <a:xfrm>
            <a:off x="9554973" y="2416508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1" name="Shape 251"/>
          <p:cNvSpPr/>
          <p:nvPr/>
        </p:nvSpPr>
        <p:spPr>
          <a:xfrm>
            <a:off x="8039352" y="3851755"/>
            <a:ext cx="598411" cy="598411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2" name="Shape 252"/>
          <p:cNvSpPr/>
          <p:nvPr/>
        </p:nvSpPr>
        <p:spPr>
          <a:xfrm>
            <a:off x="11070593" y="3851755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3" name="Shape 253"/>
          <p:cNvSpPr/>
          <p:nvPr/>
        </p:nvSpPr>
        <p:spPr>
          <a:xfrm>
            <a:off x="10164765" y="5287002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4" name="Shape 254"/>
          <p:cNvSpPr/>
          <p:nvPr/>
        </p:nvSpPr>
        <p:spPr>
          <a:xfrm>
            <a:off x="12139690" y="5287002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5" name="Shape 255"/>
          <p:cNvSpPr/>
          <p:nvPr/>
        </p:nvSpPr>
        <p:spPr>
          <a:xfrm>
            <a:off x="10164765" y="6722250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56" name="Shape 256"/>
          <p:cNvSpPr/>
          <p:nvPr/>
        </p:nvSpPr>
        <p:spPr>
          <a:xfrm>
            <a:off x="8156103" y="5238153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57" name="Shape 257"/>
          <p:cNvSpPr/>
          <p:nvPr/>
        </p:nvSpPr>
        <p:spPr>
          <a:xfrm>
            <a:off x="12256441" y="6673399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258" name="Connector 258"/>
          <p:cNvCxnSpPr>
            <a:stCxn id="256" idx="0"/>
            <a:endCxn id="251" idx="0"/>
          </p:cNvCxnSpPr>
          <p:nvPr/>
        </p:nvCxnSpPr>
        <p:spPr>
          <a:xfrm flipH="1" flipV="1">
            <a:off x="8338557" y="4150960"/>
            <a:ext cx="1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259" name="Connector 259"/>
          <p:cNvCxnSpPr>
            <a:stCxn id="251" idx="0"/>
            <a:endCxn id="250" idx="0"/>
          </p:cNvCxnSpPr>
          <p:nvPr/>
        </p:nvCxnSpPr>
        <p:spPr>
          <a:xfrm flipV="1">
            <a:off x="8338557" y="2715713"/>
            <a:ext cx="1515622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260" name="Connector 260"/>
          <p:cNvCxnSpPr>
            <a:stCxn id="252" idx="0"/>
            <a:endCxn id="250" idx="0"/>
          </p:cNvCxnSpPr>
          <p:nvPr/>
        </p:nvCxnSpPr>
        <p:spPr>
          <a:xfrm flipH="1" flipV="1">
            <a:off x="9854178" y="2715713"/>
            <a:ext cx="1515620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61" name="Connector 261"/>
          <p:cNvCxnSpPr>
            <a:stCxn id="253" idx="0"/>
            <a:endCxn id="252" idx="0"/>
          </p:cNvCxnSpPr>
          <p:nvPr/>
        </p:nvCxnSpPr>
        <p:spPr>
          <a:xfrm flipV="1">
            <a:off x="10463970" y="4150960"/>
            <a:ext cx="905828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62" name="Connector 262"/>
          <p:cNvCxnSpPr>
            <a:stCxn id="254" idx="0"/>
            <a:endCxn id="252" idx="0"/>
          </p:cNvCxnSpPr>
          <p:nvPr/>
        </p:nvCxnSpPr>
        <p:spPr>
          <a:xfrm flipH="1" flipV="1">
            <a:off x="11369797" y="4150960"/>
            <a:ext cx="1069099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63" name="Connector 263"/>
          <p:cNvCxnSpPr>
            <a:stCxn id="255" idx="0"/>
            <a:endCxn id="253" idx="0"/>
          </p:cNvCxnSpPr>
          <p:nvPr/>
        </p:nvCxnSpPr>
        <p:spPr>
          <a:xfrm flipV="1">
            <a:off x="10463970" y="5586207"/>
            <a:ext cx="1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64" name="Connector 264"/>
          <p:cNvCxnSpPr>
            <a:stCxn id="257" idx="0"/>
            <a:endCxn id="254" idx="0"/>
          </p:cNvCxnSpPr>
          <p:nvPr/>
        </p:nvCxnSpPr>
        <p:spPr>
          <a:xfrm flipV="1">
            <a:off x="12438894" y="5586207"/>
            <a:ext cx="2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sp>
        <p:nvSpPr>
          <p:cNvPr id="265" name="Shape 265"/>
          <p:cNvSpPr/>
          <p:nvPr/>
        </p:nvSpPr>
        <p:spPr>
          <a:xfrm>
            <a:off x="7382275" y="3955990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66" name="Shape 266"/>
          <p:cNvSpPr/>
          <p:nvPr/>
        </p:nvSpPr>
        <p:spPr>
          <a:xfrm>
            <a:off x="9507688" y="5391237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67" name="Shape 267"/>
          <p:cNvSpPr/>
          <p:nvPr/>
        </p:nvSpPr>
        <p:spPr>
          <a:xfrm>
            <a:off x="11482613" y="5391237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68" name="Shape 268"/>
          <p:cNvSpPr/>
          <p:nvPr/>
        </p:nvSpPr>
        <p:spPr>
          <a:xfrm>
            <a:off x="11663563" y="3955990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269" name="Shape 269"/>
          <p:cNvSpPr/>
          <p:nvPr/>
        </p:nvSpPr>
        <p:spPr>
          <a:xfrm>
            <a:off x="10147942" y="2520743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270" name="Shape 270"/>
          <p:cNvSpPr/>
          <p:nvPr/>
        </p:nvSpPr>
        <p:spPr>
          <a:xfrm>
            <a:off x="9743820" y="6826484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273" name="Shape 273"/>
          <p:cNvSpPr/>
          <p:nvPr/>
        </p:nvSpPr>
        <p:spPr>
          <a:xfrm>
            <a:off x="254000" y="2695905"/>
            <a:ext cx="5372101" cy="2306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goRight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 k</a:t>
            </a:r>
            <a:r>
              <a:rPr baseline="-5999"/>
              <a:t>2</a:t>
            </a:r>
            <a:r>
              <a:t> ()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goRight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274" name="Shape 274"/>
          <p:cNvSpPr/>
          <p:nvPr/>
        </p:nvSpPr>
        <p:spPr>
          <a:xfrm>
            <a:off x="9554973" y="2406650"/>
            <a:ext cx="598410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75" name="Shape 275"/>
          <p:cNvSpPr/>
          <p:nvPr/>
        </p:nvSpPr>
        <p:spPr>
          <a:xfrm>
            <a:off x="8039352" y="3841897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76" name="Shape 276"/>
          <p:cNvSpPr/>
          <p:nvPr/>
        </p:nvSpPr>
        <p:spPr>
          <a:xfrm>
            <a:off x="11070593" y="3841896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77" name="Shape 277"/>
          <p:cNvSpPr/>
          <p:nvPr/>
        </p:nvSpPr>
        <p:spPr>
          <a:xfrm>
            <a:off x="10164765" y="5277143"/>
            <a:ext cx="598411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78" name="Shape 278"/>
          <p:cNvSpPr/>
          <p:nvPr/>
        </p:nvSpPr>
        <p:spPr>
          <a:xfrm>
            <a:off x="12139690" y="5277143"/>
            <a:ext cx="598411" cy="598411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79" name="Shape 279"/>
          <p:cNvSpPr/>
          <p:nvPr/>
        </p:nvSpPr>
        <p:spPr>
          <a:xfrm>
            <a:off x="10164765" y="6712391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80" name="Shape 280"/>
          <p:cNvSpPr/>
          <p:nvPr/>
        </p:nvSpPr>
        <p:spPr>
          <a:xfrm>
            <a:off x="8156103" y="5228294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81" name="Shape 281"/>
          <p:cNvSpPr/>
          <p:nvPr/>
        </p:nvSpPr>
        <p:spPr>
          <a:xfrm>
            <a:off x="12256441" y="6663541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282" name="Connector 282"/>
          <p:cNvCxnSpPr>
            <a:stCxn id="280" idx="0"/>
            <a:endCxn id="275" idx="0"/>
          </p:cNvCxnSpPr>
          <p:nvPr/>
        </p:nvCxnSpPr>
        <p:spPr>
          <a:xfrm flipH="1" flipV="1">
            <a:off x="8338557" y="4141102"/>
            <a:ext cx="1" cy="1435247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83" name="Connector 283"/>
          <p:cNvCxnSpPr>
            <a:stCxn id="275" idx="0"/>
            <a:endCxn id="274" idx="0"/>
          </p:cNvCxnSpPr>
          <p:nvPr/>
        </p:nvCxnSpPr>
        <p:spPr>
          <a:xfrm flipV="1">
            <a:off x="8338557" y="2705854"/>
            <a:ext cx="1515622" cy="1435249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84" name="Connector 284"/>
          <p:cNvCxnSpPr>
            <a:stCxn id="276" idx="0"/>
            <a:endCxn id="274" idx="0"/>
          </p:cNvCxnSpPr>
          <p:nvPr/>
        </p:nvCxnSpPr>
        <p:spPr>
          <a:xfrm flipH="1" flipV="1">
            <a:off x="9854178" y="2705854"/>
            <a:ext cx="1515620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285" name="Connector 285"/>
          <p:cNvCxnSpPr>
            <a:stCxn id="277" idx="0"/>
            <a:endCxn id="276" idx="0"/>
          </p:cNvCxnSpPr>
          <p:nvPr/>
        </p:nvCxnSpPr>
        <p:spPr>
          <a:xfrm flipV="1">
            <a:off x="10463970" y="4141101"/>
            <a:ext cx="905828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86" name="Connector 286"/>
          <p:cNvCxnSpPr>
            <a:stCxn id="278" idx="0"/>
            <a:endCxn id="276" idx="0"/>
          </p:cNvCxnSpPr>
          <p:nvPr/>
        </p:nvCxnSpPr>
        <p:spPr>
          <a:xfrm flipH="1" flipV="1">
            <a:off x="11369797" y="4141101"/>
            <a:ext cx="1069099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287" name="Connector 287"/>
          <p:cNvCxnSpPr>
            <a:stCxn id="279" idx="0"/>
            <a:endCxn id="277" idx="0"/>
          </p:cNvCxnSpPr>
          <p:nvPr/>
        </p:nvCxnSpPr>
        <p:spPr>
          <a:xfrm flipV="1">
            <a:off x="10463970" y="5576348"/>
            <a:ext cx="1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288" name="Connector 288"/>
          <p:cNvCxnSpPr>
            <a:stCxn id="281" idx="0"/>
            <a:endCxn id="278" idx="0"/>
          </p:cNvCxnSpPr>
          <p:nvPr/>
        </p:nvCxnSpPr>
        <p:spPr>
          <a:xfrm flipV="1">
            <a:off x="12438894" y="5576348"/>
            <a:ext cx="2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289" name="Shape 289"/>
          <p:cNvSpPr/>
          <p:nvPr/>
        </p:nvSpPr>
        <p:spPr>
          <a:xfrm>
            <a:off x="7382275" y="3946131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90" name="Shape 290"/>
          <p:cNvSpPr/>
          <p:nvPr/>
        </p:nvSpPr>
        <p:spPr>
          <a:xfrm>
            <a:off x="9507688" y="5381378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91" name="Shape 291"/>
          <p:cNvSpPr/>
          <p:nvPr/>
        </p:nvSpPr>
        <p:spPr>
          <a:xfrm>
            <a:off x="11482613" y="5381378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292" name="Shape 292"/>
          <p:cNvSpPr/>
          <p:nvPr/>
        </p:nvSpPr>
        <p:spPr>
          <a:xfrm>
            <a:off x="11663563" y="3946131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293" name="Shape 293"/>
          <p:cNvSpPr/>
          <p:nvPr/>
        </p:nvSpPr>
        <p:spPr>
          <a:xfrm>
            <a:off x="10147942" y="2510884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294" name="Shape 294"/>
          <p:cNvSpPr/>
          <p:nvPr/>
        </p:nvSpPr>
        <p:spPr>
          <a:xfrm>
            <a:off x="9743820" y="6816625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297" name="Shape 297"/>
          <p:cNvSpPr/>
          <p:nvPr/>
        </p:nvSpPr>
        <p:spPr>
          <a:xfrm>
            <a:off x="254000" y="1019505"/>
            <a:ext cx="6515100" cy="3982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random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</a:t>
            </a:r>
            <a:r>
              <a:rPr i="1"/>
              <a:t>randomFloat</a:t>
            </a:r>
            <a:r>
              <a:t> () &gt; 0.5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  <a:r>
              <a:t> k</a:t>
            </a:r>
            <a:r>
              <a:rPr baseline="-5999"/>
              <a:t>1</a:t>
            </a:r>
            <a:r>
              <a:t> ()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  <a:r>
              <a:t> k</a:t>
            </a:r>
            <a:r>
              <a:rPr baseline="-5999"/>
              <a:t>2</a:t>
            </a:r>
            <a:r>
              <a:t> ()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random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298" name="Shape 298"/>
          <p:cNvSpPr/>
          <p:nvPr/>
        </p:nvSpPr>
        <p:spPr>
          <a:xfrm>
            <a:off x="9554973" y="2416508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299" name="Shape 299"/>
          <p:cNvSpPr/>
          <p:nvPr/>
        </p:nvSpPr>
        <p:spPr>
          <a:xfrm>
            <a:off x="8039352" y="3851755"/>
            <a:ext cx="598411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00" name="Shape 300"/>
          <p:cNvSpPr/>
          <p:nvPr/>
        </p:nvSpPr>
        <p:spPr>
          <a:xfrm>
            <a:off x="11070593" y="3851755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01" name="Shape 301"/>
          <p:cNvSpPr/>
          <p:nvPr/>
        </p:nvSpPr>
        <p:spPr>
          <a:xfrm>
            <a:off x="12139690" y="5287002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02" name="Shape 302"/>
          <p:cNvSpPr/>
          <p:nvPr/>
        </p:nvSpPr>
        <p:spPr>
          <a:xfrm>
            <a:off x="8156103" y="5238153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03" name="Shape 303"/>
          <p:cNvSpPr/>
          <p:nvPr/>
        </p:nvSpPr>
        <p:spPr>
          <a:xfrm>
            <a:off x="12256441" y="6673399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304" name="Connector 304"/>
          <p:cNvCxnSpPr>
            <a:stCxn id="302" idx="0"/>
            <a:endCxn id="299" idx="0"/>
          </p:cNvCxnSpPr>
          <p:nvPr/>
        </p:nvCxnSpPr>
        <p:spPr>
          <a:xfrm flipH="1" flipV="1">
            <a:off x="8338557" y="4150960"/>
            <a:ext cx="1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05" name="Connector 305"/>
          <p:cNvCxnSpPr>
            <a:stCxn id="299" idx="0"/>
            <a:endCxn id="298" idx="0"/>
          </p:cNvCxnSpPr>
          <p:nvPr/>
        </p:nvCxnSpPr>
        <p:spPr>
          <a:xfrm flipV="1">
            <a:off x="8338557" y="2715713"/>
            <a:ext cx="1515622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06" name="Connector 306"/>
          <p:cNvCxnSpPr>
            <a:stCxn id="300" idx="0"/>
            <a:endCxn id="298" idx="0"/>
          </p:cNvCxnSpPr>
          <p:nvPr/>
        </p:nvCxnSpPr>
        <p:spPr>
          <a:xfrm flipH="1" flipV="1">
            <a:off x="9854178" y="2715713"/>
            <a:ext cx="1515620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07" name="Connector 307"/>
          <p:cNvCxnSpPr>
            <a:stCxn id="301" idx="0"/>
            <a:endCxn id="300" idx="0"/>
          </p:cNvCxnSpPr>
          <p:nvPr/>
        </p:nvCxnSpPr>
        <p:spPr>
          <a:xfrm flipH="1" flipV="1">
            <a:off x="11369797" y="4150960"/>
            <a:ext cx="1069099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08" name="Connector 308"/>
          <p:cNvCxnSpPr>
            <a:stCxn id="303" idx="0"/>
            <a:endCxn id="301" idx="0"/>
          </p:cNvCxnSpPr>
          <p:nvPr/>
        </p:nvCxnSpPr>
        <p:spPr>
          <a:xfrm flipV="1">
            <a:off x="12438894" y="5586207"/>
            <a:ext cx="2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sp>
        <p:nvSpPr>
          <p:cNvPr id="309" name="Shape 309"/>
          <p:cNvSpPr/>
          <p:nvPr/>
        </p:nvSpPr>
        <p:spPr>
          <a:xfrm>
            <a:off x="7382275" y="3955990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10" name="Shape 310"/>
          <p:cNvSpPr/>
          <p:nvPr/>
        </p:nvSpPr>
        <p:spPr>
          <a:xfrm>
            <a:off x="11482613" y="5391237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11" name="Shape 311"/>
          <p:cNvSpPr/>
          <p:nvPr/>
        </p:nvSpPr>
        <p:spPr>
          <a:xfrm>
            <a:off x="11663563" y="3955990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12" name="Shape 312"/>
          <p:cNvSpPr/>
          <p:nvPr/>
        </p:nvSpPr>
        <p:spPr>
          <a:xfrm>
            <a:off x="10147942" y="2520743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13" name="Shape 313"/>
          <p:cNvSpPr/>
          <p:nvPr/>
        </p:nvSpPr>
        <p:spPr>
          <a:xfrm>
            <a:off x="10164765" y="5287002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14" name="Shape 314"/>
          <p:cNvSpPr/>
          <p:nvPr/>
        </p:nvSpPr>
        <p:spPr>
          <a:xfrm>
            <a:off x="10164765" y="6722250"/>
            <a:ext cx="598411" cy="598410"/>
          </a:xfrm>
          <a:prstGeom prst="ellipse">
            <a:avLst/>
          </a:prstGeom>
          <a:solidFill>
            <a:srgbClr val="EEBEBE"/>
          </a:solidFill>
          <a:ln w="25400">
            <a:solidFill>
              <a:srgbClr val="E84118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cxnSp>
        <p:nvCxnSpPr>
          <p:cNvPr id="315" name="Connector 315"/>
          <p:cNvCxnSpPr>
            <a:stCxn id="314" idx="0"/>
            <a:endCxn id="313" idx="0"/>
          </p:cNvCxnSpPr>
          <p:nvPr/>
        </p:nvCxnSpPr>
        <p:spPr>
          <a:xfrm flipV="1">
            <a:off x="10463970" y="5586207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316" name="Shape 316"/>
          <p:cNvSpPr/>
          <p:nvPr/>
        </p:nvSpPr>
        <p:spPr>
          <a:xfrm>
            <a:off x="9507688" y="5391237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17" name="Shape 317"/>
          <p:cNvSpPr/>
          <p:nvPr/>
        </p:nvSpPr>
        <p:spPr>
          <a:xfrm>
            <a:off x="9743820" y="6826484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E8411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318" name="Shape 318"/>
          <p:cNvSpPr/>
          <p:nvPr/>
        </p:nvSpPr>
        <p:spPr>
          <a:xfrm>
            <a:off x="10164765" y="5287002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19" name="Shape 319"/>
          <p:cNvSpPr/>
          <p:nvPr/>
        </p:nvSpPr>
        <p:spPr>
          <a:xfrm>
            <a:off x="10164765" y="6722250"/>
            <a:ext cx="598411" cy="598410"/>
          </a:xfrm>
          <a:prstGeom prst="ellipse">
            <a:avLst/>
          </a:prstGeom>
          <a:solidFill>
            <a:srgbClr val="EEBEBE"/>
          </a:solidFill>
          <a:ln w="25400">
            <a:solidFill>
              <a:srgbClr val="E84118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cxnSp>
        <p:nvCxnSpPr>
          <p:cNvPr id="320" name="Connector 320"/>
          <p:cNvCxnSpPr>
            <a:stCxn id="318" idx="0"/>
            <a:endCxn id="300" idx="0"/>
          </p:cNvCxnSpPr>
          <p:nvPr/>
        </p:nvCxnSpPr>
        <p:spPr>
          <a:xfrm flipV="1">
            <a:off x="10463970" y="4150960"/>
            <a:ext cx="905828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321" name="Connector 321"/>
          <p:cNvCxnSpPr>
            <a:stCxn id="319" idx="0"/>
            <a:endCxn id="318" idx="0"/>
          </p:cNvCxnSpPr>
          <p:nvPr/>
        </p:nvCxnSpPr>
        <p:spPr>
          <a:xfrm flipV="1">
            <a:off x="10463970" y="5586207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322" name="Shape 322"/>
          <p:cNvSpPr/>
          <p:nvPr/>
        </p:nvSpPr>
        <p:spPr>
          <a:xfrm>
            <a:off x="9507688" y="5391237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23" name="Shape 323"/>
          <p:cNvSpPr/>
          <p:nvPr/>
        </p:nvSpPr>
        <p:spPr>
          <a:xfrm>
            <a:off x="9743820" y="6826484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E8411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326" name="Shape 326"/>
          <p:cNvSpPr/>
          <p:nvPr/>
        </p:nvSpPr>
        <p:spPr>
          <a:xfrm>
            <a:off x="254000" y="1019505"/>
            <a:ext cx="6515100" cy="3982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random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</a:t>
            </a:r>
            <a:r>
              <a:rPr i="1"/>
              <a:t>randomFloat</a:t>
            </a:r>
            <a:r>
              <a:t> () &gt; 0.5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  <a:r>
              <a:t> k</a:t>
            </a:r>
            <a:r>
              <a:rPr baseline="-5999"/>
              <a:t>1</a:t>
            </a:r>
            <a:r>
              <a:t> ()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  <a:r>
              <a:t> k</a:t>
            </a:r>
            <a:r>
              <a:rPr baseline="-5999"/>
              <a:t>2</a:t>
            </a:r>
            <a:r>
              <a:t> ()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random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327" name="Shape 327"/>
          <p:cNvSpPr/>
          <p:nvPr/>
        </p:nvSpPr>
        <p:spPr>
          <a:xfrm>
            <a:off x="9554973" y="2406650"/>
            <a:ext cx="598410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28" name="Shape 328"/>
          <p:cNvSpPr/>
          <p:nvPr/>
        </p:nvSpPr>
        <p:spPr>
          <a:xfrm>
            <a:off x="8039352" y="3841897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29" name="Shape 329"/>
          <p:cNvSpPr/>
          <p:nvPr/>
        </p:nvSpPr>
        <p:spPr>
          <a:xfrm>
            <a:off x="11070593" y="3841896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30" name="Shape 330"/>
          <p:cNvSpPr/>
          <p:nvPr/>
        </p:nvSpPr>
        <p:spPr>
          <a:xfrm>
            <a:off x="10164765" y="5277143"/>
            <a:ext cx="598411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31" name="Shape 331"/>
          <p:cNvSpPr/>
          <p:nvPr/>
        </p:nvSpPr>
        <p:spPr>
          <a:xfrm>
            <a:off x="12139690" y="5277143"/>
            <a:ext cx="598411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32" name="Shape 332"/>
          <p:cNvSpPr/>
          <p:nvPr/>
        </p:nvSpPr>
        <p:spPr>
          <a:xfrm>
            <a:off x="10164765" y="6712391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33" name="Shape 333"/>
          <p:cNvSpPr/>
          <p:nvPr/>
        </p:nvSpPr>
        <p:spPr>
          <a:xfrm>
            <a:off x="8156103" y="5228294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34" name="Shape 334"/>
          <p:cNvSpPr/>
          <p:nvPr/>
        </p:nvSpPr>
        <p:spPr>
          <a:xfrm>
            <a:off x="12256441" y="6663541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335" name="Connector 335"/>
          <p:cNvCxnSpPr>
            <a:stCxn id="333" idx="0"/>
            <a:endCxn id="328" idx="0"/>
          </p:cNvCxnSpPr>
          <p:nvPr/>
        </p:nvCxnSpPr>
        <p:spPr>
          <a:xfrm flipH="1" flipV="1">
            <a:off x="8338557" y="4141102"/>
            <a:ext cx="1" cy="1435247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36" name="Connector 336"/>
          <p:cNvCxnSpPr>
            <a:stCxn id="328" idx="0"/>
            <a:endCxn id="327" idx="0"/>
          </p:cNvCxnSpPr>
          <p:nvPr/>
        </p:nvCxnSpPr>
        <p:spPr>
          <a:xfrm flipV="1">
            <a:off x="8338557" y="2705854"/>
            <a:ext cx="1515622" cy="1435249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337" name="Connector 337"/>
          <p:cNvCxnSpPr>
            <a:stCxn id="329" idx="0"/>
            <a:endCxn id="327" idx="0"/>
          </p:cNvCxnSpPr>
          <p:nvPr/>
        </p:nvCxnSpPr>
        <p:spPr>
          <a:xfrm flipH="1" flipV="1">
            <a:off x="9854178" y="2705854"/>
            <a:ext cx="1515620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38" name="Connector 338"/>
          <p:cNvCxnSpPr>
            <a:stCxn id="330" idx="0"/>
            <a:endCxn id="329" idx="0"/>
          </p:cNvCxnSpPr>
          <p:nvPr/>
        </p:nvCxnSpPr>
        <p:spPr>
          <a:xfrm flipV="1">
            <a:off x="10463970" y="4141101"/>
            <a:ext cx="905828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39" name="Connector 339"/>
          <p:cNvCxnSpPr>
            <a:stCxn id="331" idx="0"/>
            <a:endCxn id="329" idx="0"/>
          </p:cNvCxnSpPr>
          <p:nvPr/>
        </p:nvCxnSpPr>
        <p:spPr>
          <a:xfrm flipH="1" flipV="1">
            <a:off x="11369797" y="4141101"/>
            <a:ext cx="1069099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40" name="Connector 340"/>
          <p:cNvCxnSpPr>
            <a:stCxn id="332" idx="0"/>
            <a:endCxn id="330" idx="0"/>
          </p:cNvCxnSpPr>
          <p:nvPr/>
        </p:nvCxnSpPr>
        <p:spPr>
          <a:xfrm flipV="1">
            <a:off x="10463970" y="5576348"/>
            <a:ext cx="1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41" name="Connector 341"/>
          <p:cNvCxnSpPr>
            <a:stCxn id="334" idx="0"/>
            <a:endCxn id="331" idx="0"/>
          </p:cNvCxnSpPr>
          <p:nvPr/>
        </p:nvCxnSpPr>
        <p:spPr>
          <a:xfrm flipV="1">
            <a:off x="12438894" y="5576348"/>
            <a:ext cx="2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sp>
        <p:nvSpPr>
          <p:cNvPr id="342" name="Shape 342"/>
          <p:cNvSpPr/>
          <p:nvPr/>
        </p:nvSpPr>
        <p:spPr>
          <a:xfrm>
            <a:off x="7382275" y="3946131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43" name="Shape 343"/>
          <p:cNvSpPr/>
          <p:nvPr/>
        </p:nvSpPr>
        <p:spPr>
          <a:xfrm>
            <a:off x="9507688" y="5381378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44" name="Shape 344"/>
          <p:cNvSpPr/>
          <p:nvPr/>
        </p:nvSpPr>
        <p:spPr>
          <a:xfrm>
            <a:off x="11482613" y="5381378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45" name="Shape 345"/>
          <p:cNvSpPr/>
          <p:nvPr/>
        </p:nvSpPr>
        <p:spPr>
          <a:xfrm>
            <a:off x="11663563" y="3946131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46" name="Shape 346"/>
          <p:cNvSpPr/>
          <p:nvPr/>
        </p:nvSpPr>
        <p:spPr>
          <a:xfrm>
            <a:off x="10147942" y="2510884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47" name="Shape 347"/>
          <p:cNvSpPr/>
          <p:nvPr/>
        </p:nvSpPr>
        <p:spPr>
          <a:xfrm>
            <a:off x="9743820" y="6816625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350" name="Shape 350"/>
          <p:cNvSpPr/>
          <p:nvPr/>
        </p:nvSpPr>
        <p:spPr>
          <a:xfrm>
            <a:off x="254000" y="1019505"/>
            <a:ext cx="6515100" cy="3982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random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</a:t>
            </a:r>
            <a:r>
              <a:rPr i="1"/>
              <a:t>randomFloat</a:t>
            </a:r>
            <a:r>
              <a:t> () &gt; 0.5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  <a:r>
              <a:t> k</a:t>
            </a:r>
            <a:r>
              <a:rPr baseline="-5999"/>
              <a:t>1</a:t>
            </a:r>
            <a:r>
              <a:t> ()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  <a:r>
              <a:t> k</a:t>
            </a:r>
            <a:r>
              <a:rPr baseline="-5999"/>
              <a:t>2</a:t>
            </a:r>
            <a:r>
              <a:t> ()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random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351" name="Shape 351"/>
          <p:cNvSpPr/>
          <p:nvPr/>
        </p:nvSpPr>
        <p:spPr>
          <a:xfrm>
            <a:off x="9554973" y="2406650"/>
            <a:ext cx="598410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52" name="Shape 352"/>
          <p:cNvSpPr/>
          <p:nvPr/>
        </p:nvSpPr>
        <p:spPr>
          <a:xfrm>
            <a:off x="8039352" y="3841897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53" name="Shape 353"/>
          <p:cNvSpPr/>
          <p:nvPr/>
        </p:nvSpPr>
        <p:spPr>
          <a:xfrm>
            <a:off x="11070593" y="3841896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54" name="Shape 354"/>
          <p:cNvSpPr/>
          <p:nvPr/>
        </p:nvSpPr>
        <p:spPr>
          <a:xfrm>
            <a:off x="10164765" y="5277143"/>
            <a:ext cx="598411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55" name="Shape 355"/>
          <p:cNvSpPr/>
          <p:nvPr/>
        </p:nvSpPr>
        <p:spPr>
          <a:xfrm>
            <a:off x="12139690" y="5277143"/>
            <a:ext cx="598411" cy="598411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56" name="Shape 356"/>
          <p:cNvSpPr/>
          <p:nvPr/>
        </p:nvSpPr>
        <p:spPr>
          <a:xfrm>
            <a:off x="10164765" y="6712391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57" name="Shape 357"/>
          <p:cNvSpPr/>
          <p:nvPr/>
        </p:nvSpPr>
        <p:spPr>
          <a:xfrm>
            <a:off x="8156103" y="5228294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58" name="Shape 358"/>
          <p:cNvSpPr/>
          <p:nvPr/>
        </p:nvSpPr>
        <p:spPr>
          <a:xfrm>
            <a:off x="12256441" y="6663541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359" name="Connector 359"/>
          <p:cNvCxnSpPr>
            <a:stCxn id="357" idx="0"/>
            <a:endCxn id="352" idx="0"/>
          </p:cNvCxnSpPr>
          <p:nvPr/>
        </p:nvCxnSpPr>
        <p:spPr>
          <a:xfrm flipH="1" flipV="1">
            <a:off x="8338557" y="4141102"/>
            <a:ext cx="1" cy="1435247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60" name="Connector 360"/>
          <p:cNvCxnSpPr>
            <a:stCxn id="352" idx="0"/>
            <a:endCxn id="351" idx="0"/>
          </p:cNvCxnSpPr>
          <p:nvPr/>
        </p:nvCxnSpPr>
        <p:spPr>
          <a:xfrm flipV="1">
            <a:off x="8338557" y="2705854"/>
            <a:ext cx="1515622" cy="1435249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61" name="Connector 361"/>
          <p:cNvCxnSpPr>
            <a:stCxn id="353" idx="0"/>
            <a:endCxn id="351" idx="0"/>
          </p:cNvCxnSpPr>
          <p:nvPr/>
        </p:nvCxnSpPr>
        <p:spPr>
          <a:xfrm flipH="1" flipV="1">
            <a:off x="9854178" y="2705854"/>
            <a:ext cx="1515620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62" name="Connector 362"/>
          <p:cNvCxnSpPr>
            <a:stCxn id="354" idx="0"/>
            <a:endCxn id="353" idx="0"/>
          </p:cNvCxnSpPr>
          <p:nvPr/>
        </p:nvCxnSpPr>
        <p:spPr>
          <a:xfrm flipV="1">
            <a:off x="10463970" y="4141101"/>
            <a:ext cx="905828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63" name="Connector 363"/>
          <p:cNvCxnSpPr>
            <a:stCxn id="355" idx="0"/>
            <a:endCxn id="353" idx="0"/>
          </p:cNvCxnSpPr>
          <p:nvPr/>
        </p:nvCxnSpPr>
        <p:spPr>
          <a:xfrm flipH="1" flipV="1">
            <a:off x="11369797" y="4141101"/>
            <a:ext cx="1069099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64" name="Connector 364"/>
          <p:cNvCxnSpPr>
            <a:stCxn id="356" idx="0"/>
            <a:endCxn id="354" idx="0"/>
          </p:cNvCxnSpPr>
          <p:nvPr/>
        </p:nvCxnSpPr>
        <p:spPr>
          <a:xfrm flipV="1">
            <a:off x="10463970" y="5576348"/>
            <a:ext cx="1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65" name="Connector 365"/>
          <p:cNvCxnSpPr>
            <a:stCxn id="358" idx="0"/>
            <a:endCxn id="355" idx="0"/>
          </p:cNvCxnSpPr>
          <p:nvPr/>
        </p:nvCxnSpPr>
        <p:spPr>
          <a:xfrm flipV="1">
            <a:off x="12438894" y="5576348"/>
            <a:ext cx="2" cy="1435248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366" name="Shape 366"/>
          <p:cNvSpPr/>
          <p:nvPr/>
        </p:nvSpPr>
        <p:spPr>
          <a:xfrm>
            <a:off x="7382275" y="3946131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67" name="Shape 367"/>
          <p:cNvSpPr/>
          <p:nvPr/>
        </p:nvSpPr>
        <p:spPr>
          <a:xfrm>
            <a:off x="9507688" y="5381378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68" name="Shape 368"/>
          <p:cNvSpPr/>
          <p:nvPr/>
        </p:nvSpPr>
        <p:spPr>
          <a:xfrm>
            <a:off x="11482613" y="5381378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69" name="Shape 369"/>
          <p:cNvSpPr/>
          <p:nvPr/>
        </p:nvSpPr>
        <p:spPr>
          <a:xfrm>
            <a:off x="11663563" y="3946131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70" name="Shape 370"/>
          <p:cNvSpPr/>
          <p:nvPr/>
        </p:nvSpPr>
        <p:spPr>
          <a:xfrm>
            <a:off x="10147942" y="2510884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71" name="Shape 371"/>
          <p:cNvSpPr/>
          <p:nvPr/>
        </p:nvSpPr>
        <p:spPr>
          <a:xfrm>
            <a:off x="9743820" y="6816625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374" name="Shape 374"/>
          <p:cNvSpPr/>
          <p:nvPr/>
        </p:nvSpPr>
        <p:spPr>
          <a:xfrm>
            <a:off x="254000" y="1019505"/>
            <a:ext cx="6515100" cy="3982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random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</a:t>
            </a:r>
            <a:r>
              <a:rPr i="1"/>
              <a:t>randomFloat</a:t>
            </a:r>
            <a:r>
              <a:t> () &gt; 0.5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  <a:r>
              <a:t> k</a:t>
            </a:r>
            <a:r>
              <a:rPr baseline="-5999"/>
              <a:t>1</a:t>
            </a:r>
            <a:r>
              <a:t> ()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  <a:r>
              <a:t> k</a:t>
            </a:r>
            <a:r>
              <a:rPr baseline="-5999"/>
              <a:t>2</a:t>
            </a:r>
            <a:r>
              <a:t> ()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random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375" name="Shape 375"/>
          <p:cNvSpPr/>
          <p:nvPr/>
        </p:nvSpPr>
        <p:spPr>
          <a:xfrm>
            <a:off x="9554973" y="2406650"/>
            <a:ext cx="598410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76" name="Shape 376"/>
          <p:cNvSpPr/>
          <p:nvPr/>
        </p:nvSpPr>
        <p:spPr>
          <a:xfrm>
            <a:off x="8039352" y="3841897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77" name="Shape 377"/>
          <p:cNvSpPr/>
          <p:nvPr/>
        </p:nvSpPr>
        <p:spPr>
          <a:xfrm>
            <a:off x="11070593" y="3841896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78" name="Shape 378"/>
          <p:cNvSpPr/>
          <p:nvPr/>
        </p:nvSpPr>
        <p:spPr>
          <a:xfrm>
            <a:off x="10164765" y="5277143"/>
            <a:ext cx="598411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79" name="Shape 379"/>
          <p:cNvSpPr/>
          <p:nvPr/>
        </p:nvSpPr>
        <p:spPr>
          <a:xfrm>
            <a:off x="12139690" y="5277143"/>
            <a:ext cx="598411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80" name="Shape 380"/>
          <p:cNvSpPr/>
          <p:nvPr/>
        </p:nvSpPr>
        <p:spPr>
          <a:xfrm>
            <a:off x="10164765" y="6712391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81" name="Shape 381"/>
          <p:cNvSpPr/>
          <p:nvPr/>
        </p:nvSpPr>
        <p:spPr>
          <a:xfrm>
            <a:off x="8156103" y="5228294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82" name="Shape 382"/>
          <p:cNvSpPr/>
          <p:nvPr/>
        </p:nvSpPr>
        <p:spPr>
          <a:xfrm>
            <a:off x="12256441" y="6663541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383" name="Connector 383"/>
          <p:cNvCxnSpPr>
            <a:stCxn id="381" idx="0"/>
            <a:endCxn id="376" idx="0"/>
          </p:cNvCxnSpPr>
          <p:nvPr/>
        </p:nvCxnSpPr>
        <p:spPr>
          <a:xfrm flipH="1" flipV="1">
            <a:off x="8338557" y="4141102"/>
            <a:ext cx="1" cy="1435247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84" name="Connector 384"/>
          <p:cNvCxnSpPr>
            <a:stCxn id="376" idx="0"/>
            <a:endCxn id="375" idx="0"/>
          </p:cNvCxnSpPr>
          <p:nvPr/>
        </p:nvCxnSpPr>
        <p:spPr>
          <a:xfrm flipV="1">
            <a:off x="8338557" y="2705854"/>
            <a:ext cx="1515622" cy="1435249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385" name="Connector 385"/>
          <p:cNvCxnSpPr>
            <a:stCxn id="377" idx="0"/>
            <a:endCxn id="375" idx="0"/>
          </p:cNvCxnSpPr>
          <p:nvPr/>
        </p:nvCxnSpPr>
        <p:spPr>
          <a:xfrm flipH="1" flipV="1">
            <a:off x="9854178" y="2705854"/>
            <a:ext cx="1515620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86" name="Connector 386"/>
          <p:cNvCxnSpPr>
            <a:stCxn id="378" idx="0"/>
            <a:endCxn id="377" idx="0"/>
          </p:cNvCxnSpPr>
          <p:nvPr/>
        </p:nvCxnSpPr>
        <p:spPr>
          <a:xfrm flipV="1">
            <a:off x="10463970" y="4141101"/>
            <a:ext cx="905828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87" name="Connector 387"/>
          <p:cNvCxnSpPr>
            <a:stCxn id="379" idx="0"/>
            <a:endCxn id="377" idx="0"/>
          </p:cNvCxnSpPr>
          <p:nvPr/>
        </p:nvCxnSpPr>
        <p:spPr>
          <a:xfrm flipH="1" flipV="1">
            <a:off x="11369797" y="4141101"/>
            <a:ext cx="1069099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88" name="Connector 388"/>
          <p:cNvCxnSpPr>
            <a:stCxn id="380" idx="0"/>
            <a:endCxn id="378" idx="0"/>
          </p:cNvCxnSpPr>
          <p:nvPr/>
        </p:nvCxnSpPr>
        <p:spPr>
          <a:xfrm flipV="1">
            <a:off x="10463970" y="5576348"/>
            <a:ext cx="1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cxnSp>
        <p:nvCxnSpPr>
          <p:cNvPr id="389" name="Connector 389"/>
          <p:cNvCxnSpPr>
            <a:stCxn id="382" idx="0"/>
            <a:endCxn id="379" idx="0"/>
          </p:cNvCxnSpPr>
          <p:nvPr/>
        </p:nvCxnSpPr>
        <p:spPr>
          <a:xfrm flipV="1">
            <a:off x="12438894" y="5576348"/>
            <a:ext cx="2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sp>
        <p:nvSpPr>
          <p:cNvPr id="390" name="Shape 390"/>
          <p:cNvSpPr/>
          <p:nvPr/>
        </p:nvSpPr>
        <p:spPr>
          <a:xfrm>
            <a:off x="7382275" y="3946131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91" name="Shape 391"/>
          <p:cNvSpPr/>
          <p:nvPr/>
        </p:nvSpPr>
        <p:spPr>
          <a:xfrm>
            <a:off x="9507688" y="5381378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92" name="Shape 392"/>
          <p:cNvSpPr/>
          <p:nvPr/>
        </p:nvSpPr>
        <p:spPr>
          <a:xfrm>
            <a:off x="11482613" y="5381378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393" name="Shape 393"/>
          <p:cNvSpPr/>
          <p:nvPr/>
        </p:nvSpPr>
        <p:spPr>
          <a:xfrm>
            <a:off x="11663563" y="3946131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94" name="Shape 394"/>
          <p:cNvSpPr/>
          <p:nvPr/>
        </p:nvSpPr>
        <p:spPr>
          <a:xfrm>
            <a:off x="10147942" y="2510884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395" name="Shape 395"/>
          <p:cNvSpPr/>
          <p:nvPr/>
        </p:nvSpPr>
        <p:spPr>
          <a:xfrm>
            <a:off x="9743820" y="6816625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398" name="Shape 398"/>
          <p:cNvSpPr/>
          <p:nvPr/>
        </p:nvSpPr>
        <p:spPr>
          <a:xfrm>
            <a:off x="254000" y="2137105"/>
            <a:ext cx="5448301" cy="2864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pickMax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 i="1"/>
              <a:t>max</a:t>
            </a:r>
            <a:r>
              <a:t> (k</a:t>
            </a:r>
            <a:r>
              <a:rPr baseline="-5999"/>
              <a:t>1</a:t>
            </a:r>
            <a:r>
              <a:t> ()) (k</a:t>
            </a:r>
            <a:r>
              <a:rPr baseline="-5999"/>
              <a:t>2</a:t>
            </a:r>
            <a:r>
              <a:t> ())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pickMax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399" name="Shape 399"/>
          <p:cNvSpPr/>
          <p:nvPr/>
        </p:nvSpPr>
        <p:spPr>
          <a:xfrm>
            <a:off x="9554973" y="2416508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00" name="Shape 400"/>
          <p:cNvSpPr/>
          <p:nvPr/>
        </p:nvSpPr>
        <p:spPr>
          <a:xfrm>
            <a:off x="8039352" y="3851755"/>
            <a:ext cx="598411" cy="598411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01" name="Shape 401"/>
          <p:cNvSpPr/>
          <p:nvPr/>
        </p:nvSpPr>
        <p:spPr>
          <a:xfrm>
            <a:off x="11070593" y="3851755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02" name="Shape 402"/>
          <p:cNvSpPr/>
          <p:nvPr/>
        </p:nvSpPr>
        <p:spPr>
          <a:xfrm>
            <a:off x="10164765" y="5287002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03" name="Shape 403"/>
          <p:cNvSpPr/>
          <p:nvPr/>
        </p:nvSpPr>
        <p:spPr>
          <a:xfrm>
            <a:off x="10164765" y="6722250"/>
            <a:ext cx="598411" cy="598410"/>
          </a:xfrm>
          <a:prstGeom prst="ellipse">
            <a:avLst/>
          </a:prstGeom>
          <a:solidFill>
            <a:srgbClr val="EEBEBE"/>
          </a:solidFill>
          <a:ln w="25400">
            <a:solidFill>
              <a:srgbClr val="E84118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04" name="Shape 404"/>
          <p:cNvSpPr/>
          <p:nvPr/>
        </p:nvSpPr>
        <p:spPr>
          <a:xfrm>
            <a:off x="8156103" y="5238153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cxnSp>
        <p:nvCxnSpPr>
          <p:cNvPr id="405" name="Connector 405"/>
          <p:cNvCxnSpPr>
            <a:stCxn id="404" idx="0"/>
            <a:endCxn id="400" idx="0"/>
          </p:cNvCxnSpPr>
          <p:nvPr/>
        </p:nvCxnSpPr>
        <p:spPr>
          <a:xfrm flipH="1" flipV="1">
            <a:off x="8338557" y="4150960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06" name="Connector 406"/>
          <p:cNvCxnSpPr>
            <a:stCxn id="400" idx="0"/>
            <a:endCxn id="399" idx="0"/>
          </p:cNvCxnSpPr>
          <p:nvPr/>
        </p:nvCxnSpPr>
        <p:spPr>
          <a:xfrm flipV="1">
            <a:off x="8338557" y="2715713"/>
            <a:ext cx="1515622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07" name="Connector 407"/>
          <p:cNvCxnSpPr>
            <a:stCxn id="401" idx="0"/>
            <a:endCxn id="399" idx="0"/>
          </p:cNvCxnSpPr>
          <p:nvPr/>
        </p:nvCxnSpPr>
        <p:spPr>
          <a:xfrm flipH="1" flipV="1">
            <a:off x="9854178" y="2715713"/>
            <a:ext cx="1515620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08" name="Connector 408"/>
          <p:cNvCxnSpPr>
            <a:stCxn id="402" idx="0"/>
            <a:endCxn id="401" idx="0"/>
          </p:cNvCxnSpPr>
          <p:nvPr/>
        </p:nvCxnSpPr>
        <p:spPr>
          <a:xfrm flipV="1">
            <a:off x="10463970" y="4150960"/>
            <a:ext cx="905828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09" name="Connector 409"/>
          <p:cNvCxnSpPr>
            <a:stCxn id="416" idx="0"/>
            <a:endCxn id="401" idx="0"/>
          </p:cNvCxnSpPr>
          <p:nvPr/>
        </p:nvCxnSpPr>
        <p:spPr>
          <a:xfrm flipH="1" flipV="1">
            <a:off x="11369797" y="4150960"/>
            <a:ext cx="1069099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10" name="Connector 410"/>
          <p:cNvCxnSpPr>
            <a:stCxn id="403" idx="0"/>
            <a:endCxn id="402" idx="0"/>
          </p:cNvCxnSpPr>
          <p:nvPr/>
        </p:nvCxnSpPr>
        <p:spPr>
          <a:xfrm flipV="1">
            <a:off x="10463970" y="5586207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411" name="Shape 411"/>
          <p:cNvSpPr/>
          <p:nvPr/>
        </p:nvSpPr>
        <p:spPr>
          <a:xfrm>
            <a:off x="7382275" y="3955990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12" name="Shape 412"/>
          <p:cNvSpPr/>
          <p:nvPr/>
        </p:nvSpPr>
        <p:spPr>
          <a:xfrm>
            <a:off x="9507688" y="5391237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13" name="Shape 413"/>
          <p:cNvSpPr/>
          <p:nvPr/>
        </p:nvSpPr>
        <p:spPr>
          <a:xfrm>
            <a:off x="11663563" y="3955990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414" name="Shape 414"/>
          <p:cNvSpPr/>
          <p:nvPr/>
        </p:nvSpPr>
        <p:spPr>
          <a:xfrm>
            <a:off x="10147942" y="2520743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415" name="Shape 415"/>
          <p:cNvSpPr/>
          <p:nvPr/>
        </p:nvSpPr>
        <p:spPr>
          <a:xfrm>
            <a:off x="9743820" y="6826484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E8411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416" name="Shape 416"/>
          <p:cNvSpPr/>
          <p:nvPr/>
        </p:nvSpPr>
        <p:spPr>
          <a:xfrm>
            <a:off x="12139690" y="5287002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17" name="Shape 417"/>
          <p:cNvSpPr/>
          <p:nvPr/>
        </p:nvSpPr>
        <p:spPr>
          <a:xfrm>
            <a:off x="12256441" y="6673399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418" name="Connector 418"/>
          <p:cNvCxnSpPr>
            <a:stCxn id="417" idx="0"/>
            <a:endCxn id="416" idx="0"/>
          </p:cNvCxnSpPr>
          <p:nvPr/>
        </p:nvCxnSpPr>
        <p:spPr>
          <a:xfrm flipV="1">
            <a:off x="12438894" y="5586207"/>
            <a:ext cx="2" cy="1435248"/>
          </a:xfrm>
          <a:prstGeom prst="straightConnector1">
            <a:avLst/>
          </a:prstGeom>
          <a:ln w="25400">
            <a:solidFill>
              <a:srgbClr val="7F8FA6"/>
            </a:solidFill>
            <a:miter lim="400000"/>
          </a:ln>
        </p:spPr>
      </p:cxnSp>
      <p:sp>
        <p:nvSpPr>
          <p:cNvPr id="419" name="Shape 419"/>
          <p:cNvSpPr/>
          <p:nvPr/>
        </p:nvSpPr>
        <p:spPr>
          <a:xfrm>
            <a:off x="11482613" y="5391237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422" name="Shape 422"/>
          <p:cNvSpPr/>
          <p:nvPr/>
        </p:nvSpPr>
        <p:spPr>
          <a:xfrm>
            <a:off x="254000" y="1578305"/>
            <a:ext cx="5448301" cy="342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pickMax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 i="1"/>
              <a:t>max</a:t>
            </a:r>
            <a:r>
              <a:t> (k</a:t>
            </a:r>
            <a:r>
              <a:rPr baseline="-5999"/>
              <a:t>1</a:t>
            </a:r>
            <a:r>
              <a:t> ()) (k</a:t>
            </a:r>
            <a:r>
              <a:rPr baseline="-5999"/>
              <a:t>2</a:t>
            </a:r>
            <a:r>
              <a:t> ())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E84118"/>
                </a:solidFill>
              </a:rPr>
              <a:t>fail</a:t>
            </a:r>
            <a:r>
              <a:t> -&gt; -</a:t>
            </a:r>
            <a:r>
              <a:rPr i="1"/>
              <a:t>inf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pickMax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423" name="Shape 423"/>
          <p:cNvSpPr/>
          <p:nvPr/>
        </p:nvSpPr>
        <p:spPr>
          <a:xfrm>
            <a:off x="9554973" y="2416508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24" name="Shape 424"/>
          <p:cNvSpPr/>
          <p:nvPr/>
        </p:nvSpPr>
        <p:spPr>
          <a:xfrm>
            <a:off x="8039352" y="3851755"/>
            <a:ext cx="598411" cy="598411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25" name="Shape 425"/>
          <p:cNvSpPr/>
          <p:nvPr/>
        </p:nvSpPr>
        <p:spPr>
          <a:xfrm>
            <a:off x="11070593" y="3851755"/>
            <a:ext cx="598410" cy="598411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26" name="Shape 426"/>
          <p:cNvSpPr/>
          <p:nvPr/>
        </p:nvSpPr>
        <p:spPr>
          <a:xfrm>
            <a:off x="10164765" y="5287002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27" name="Shape 427"/>
          <p:cNvSpPr/>
          <p:nvPr/>
        </p:nvSpPr>
        <p:spPr>
          <a:xfrm>
            <a:off x="10164765" y="6722250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28" name="Shape 428"/>
          <p:cNvSpPr/>
          <p:nvPr/>
        </p:nvSpPr>
        <p:spPr>
          <a:xfrm>
            <a:off x="8156103" y="5238153"/>
            <a:ext cx="364909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cxnSp>
        <p:nvCxnSpPr>
          <p:cNvPr id="429" name="Connector 429"/>
          <p:cNvCxnSpPr>
            <a:stCxn id="428" idx="0"/>
            <a:endCxn id="424" idx="0"/>
          </p:cNvCxnSpPr>
          <p:nvPr/>
        </p:nvCxnSpPr>
        <p:spPr>
          <a:xfrm flipH="1" flipV="1">
            <a:off x="8338557" y="4150960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30" name="Connector 430"/>
          <p:cNvCxnSpPr>
            <a:stCxn id="424" idx="0"/>
            <a:endCxn id="423" idx="0"/>
          </p:cNvCxnSpPr>
          <p:nvPr/>
        </p:nvCxnSpPr>
        <p:spPr>
          <a:xfrm flipV="1">
            <a:off x="8338557" y="2715713"/>
            <a:ext cx="1515622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31" name="Connector 431"/>
          <p:cNvCxnSpPr>
            <a:stCxn id="425" idx="0"/>
            <a:endCxn id="423" idx="0"/>
          </p:cNvCxnSpPr>
          <p:nvPr/>
        </p:nvCxnSpPr>
        <p:spPr>
          <a:xfrm flipH="1" flipV="1">
            <a:off x="9854178" y="2715713"/>
            <a:ext cx="1515620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32" name="Connector 432"/>
          <p:cNvCxnSpPr>
            <a:stCxn id="426" idx="0"/>
            <a:endCxn id="425" idx="0"/>
          </p:cNvCxnSpPr>
          <p:nvPr/>
        </p:nvCxnSpPr>
        <p:spPr>
          <a:xfrm flipV="1">
            <a:off x="10463970" y="4150960"/>
            <a:ext cx="905828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33" name="Connector 433"/>
          <p:cNvCxnSpPr>
            <a:stCxn id="440" idx="0"/>
            <a:endCxn id="425" idx="0"/>
          </p:cNvCxnSpPr>
          <p:nvPr/>
        </p:nvCxnSpPr>
        <p:spPr>
          <a:xfrm flipH="1" flipV="1">
            <a:off x="11369797" y="4150960"/>
            <a:ext cx="1069099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34" name="Connector 434"/>
          <p:cNvCxnSpPr>
            <a:stCxn id="427" idx="0"/>
            <a:endCxn id="426" idx="0"/>
          </p:cNvCxnSpPr>
          <p:nvPr/>
        </p:nvCxnSpPr>
        <p:spPr>
          <a:xfrm flipV="1">
            <a:off x="10463970" y="5586207"/>
            <a:ext cx="1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435" name="Shape 435"/>
          <p:cNvSpPr/>
          <p:nvPr/>
        </p:nvSpPr>
        <p:spPr>
          <a:xfrm>
            <a:off x="7382275" y="3955990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36" name="Shape 436"/>
          <p:cNvSpPr/>
          <p:nvPr/>
        </p:nvSpPr>
        <p:spPr>
          <a:xfrm>
            <a:off x="9507688" y="5391237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CD137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37" name="Shape 437"/>
          <p:cNvSpPr/>
          <p:nvPr/>
        </p:nvSpPr>
        <p:spPr>
          <a:xfrm>
            <a:off x="11663563" y="3955990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438" name="Shape 438"/>
          <p:cNvSpPr/>
          <p:nvPr/>
        </p:nvSpPr>
        <p:spPr>
          <a:xfrm>
            <a:off x="10147942" y="2520743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439" name="Shape 439"/>
          <p:cNvSpPr/>
          <p:nvPr/>
        </p:nvSpPr>
        <p:spPr>
          <a:xfrm>
            <a:off x="9743820" y="6826484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440" name="Shape 440"/>
          <p:cNvSpPr/>
          <p:nvPr/>
        </p:nvSpPr>
        <p:spPr>
          <a:xfrm>
            <a:off x="12139690" y="5287002"/>
            <a:ext cx="598411" cy="598410"/>
          </a:xfrm>
          <a:prstGeom prst="ellipse">
            <a:avLst/>
          </a:prstGeom>
          <a:solidFill>
            <a:srgbClr val="C3EBC9"/>
          </a:solidFill>
          <a:ln w="25400">
            <a:solidFill>
              <a:srgbClr val="4CD13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41" name="Shape 441"/>
          <p:cNvSpPr/>
          <p:nvPr/>
        </p:nvSpPr>
        <p:spPr>
          <a:xfrm>
            <a:off x="12256441" y="6673399"/>
            <a:ext cx="364908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cxnSp>
        <p:nvCxnSpPr>
          <p:cNvPr id="442" name="Connector 442"/>
          <p:cNvCxnSpPr>
            <a:stCxn id="441" idx="0"/>
            <a:endCxn id="440" idx="0"/>
          </p:cNvCxnSpPr>
          <p:nvPr/>
        </p:nvCxnSpPr>
        <p:spPr>
          <a:xfrm flipV="1">
            <a:off x="12438894" y="5586207"/>
            <a:ext cx="2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443" name="Shape 443"/>
          <p:cNvSpPr/>
          <p:nvPr/>
        </p:nvSpPr>
        <p:spPr>
          <a:xfrm>
            <a:off x="11482613" y="5391237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44BD32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44" name="Shape 444"/>
          <p:cNvSpPr/>
          <p:nvPr/>
        </p:nvSpPr>
        <p:spPr>
          <a:xfrm>
            <a:off x="10155817" y="6662931"/>
            <a:ext cx="61630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-∞</a:t>
            </a:r>
          </a:p>
        </p:txBody>
      </p:sp>
      <p:sp>
        <p:nvSpPr>
          <p:cNvPr id="445" name="Shape 445"/>
          <p:cNvSpPr/>
          <p:nvPr/>
        </p:nvSpPr>
        <p:spPr>
          <a:xfrm>
            <a:off x="11176630" y="3803590"/>
            <a:ext cx="386335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6" name="Shape 446"/>
          <p:cNvSpPr/>
          <p:nvPr/>
        </p:nvSpPr>
        <p:spPr>
          <a:xfrm>
            <a:off x="9675812" y="2339183"/>
            <a:ext cx="386335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/>
          <p:nvPr/>
        </p:nvSpPr>
        <p:spPr>
          <a:xfrm>
            <a:off x="706162" y="4933438"/>
            <a:ext cx="5600701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divide</a:t>
            </a:r>
            <a:r>
              <a:t> m n =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beep (); m / 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x = choose 42 12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if</a:t>
            </a:r>
            <a:r>
              <a:t> x &gt; 20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then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6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else</a:t>
            </a:r>
          </a:p>
          <a:p>
            <a:pPr algn="l">
              <a:defRPr>
                <a:solidFill>
                  <a:srgbClr val="7F8FA6"/>
                </a:solidFill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 i="1"/>
              <a:t>divide</a:t>
            </a:r>
            <a:r>
              <a:t> x (choose 0 4)</a:t>
            </a:r>
          </a:p>
        </p:txBody>
      </p:sp>
      <p:sp>
        <p:nvSpPr>
          <p:cNvPr id="449" name="Shape 449"/>
          <p:cNvSpPr/>
          <p:nvPr/>
        </p:nvSpPr>
        <p:spPr>
          <a:xfrm>
            <a:off x="254000" y="460705"/>
            <a:ext cx="4914900" cy="45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toList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  k</a:t>
            </a:r>
            <a:r>
              <a:rPr baseline="-5999"/>
              <a:t>1</a:t>
            </a:r>
            <a:r>
              <a:t> () ++ k</a:t>
            </a:r>
            <a:r>
              <a:rPr baseline="-5999"/>
              <a:t>2</a:t>
            </a:r>
            <a:r>
              <a:t> ()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E84118"/>
                </a:solidFill>
              </a:rPr>
              <a:t>fail</a:t>
            </a:r>
            <a:r>
              <a:t> -&gt; []</a:t>
            </a:r>
            <a:endParaRPr i="1"/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4CD137"/>
                </a:solidFill>
              </a:rPr>
              <a:t>beep</a:t>
            </a:r>
            <a:r>
              <a:t> k -&gt; k ()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ret</a:t>
            </a:r>
            <a:r>
              <a:t> x -&gt; [x] </a:t>
            </a:r>
          </a:p>
          <a:p>
            <a:pPr algn="l">
              <a:defRPr>
                <a:latin typeface="Iosevka Heavy"/>
                <a:ea typeface="Iosevka Heavy"/>
                <a:cs typeface="Iosevka Heavy"/>
                <a:sym typeface="Iosevka Heavy"/>
              </a:defRPr>
            </a:pPr>
            <a:r>
              <a:t>in</a:t>
            </a:r>
          </a:p>
          <a:p>
            <a:pPr algn="l">
              <a:defRPr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with </a:t>
            </a:r>
            <a:r>
              <a:rPr i="1"/>
              <a:t>toList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 handle</a:t>
            </a:r>
          </a:p>
        </p:txBody>
      </p:sp>
      <p:sp>
        <p:nvSpPr>
          <p:cNvPr id="450" name="Shape 450"/>
          <p:cNvSpPr/>
          <p:nvPr/>
        </p:nvSpPr>
        <p:spPr>
          <a:xfrm>
            <a:off x="9554973" y="2414795"/>
            <a:ext cx="598410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51" name="Shape 451"/>
          <p:cNvSpPr/>
          <p:nvPr/>
        </p:nvSpPr>
        <p:spPr>
          <a:xfrm>
            <a:off x="8039352" y="3850042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52" name="Shape 452"/>
          <p:cNvSpPr/>
          <p:nvPr/>
        </p:nvSpPr>
        <p:spPr>
          <a:xfrm>
            <a:off x="11070593" y="3850042"/>
            <a:ext cx="598410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53" name="Shape 453"/>
          <p:cNvSpPr/>
          <p:nvPr/>
        </p:nvSpPr>
        <p:spPr>
          <a:xfrm>
            <a:off x="10164765" y="5285289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54" name="Shape 454"/>
          <p:cNvSpPr/>
          <p:nvPr/>
        </p:nvSpPr>
        <p:spPr>
          <a:xfrm>
            <a:off x="10164765" y="6720536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55" name="Shape 455"/>
          <p:cNvSpPr/>
          <p:nvPr/>
        </p:nvSpPr>
        <p:spPr>
          <a:xfrm>
            <a:off x="8094717" y="5200289"/>
            <a:ext cx="487681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[7]</a:t>
            </a:r>
          </a:p>
        </p:txBody>
      </p:sp>
      <p:cxnSp>
        <p:nvCxnSpPr>
          <p:cNvPr id="456" name="Connector 456"/>
          <p:cNvCxnSpPr>
            <a:stCxn id="455" idx="0"/>
            <a:endCxn id="451" idx="0"/>
          </p:cNvCxnSpPr>
          <p:nvPr/>
        </p:nvCxnSpPr>
        <p:spPr>
          <a:xfrm flipH="1" flipV="1">
            <a:off x="8338557" y="4149247"/>
            <a:ext cx="1" cy="139909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57" name="Connector 457"/>
          <p:cNvCxnSpPr>
            <a:stCxn id="451" idx="0"/>
            <a:endCxn id="450" idx="0"/>
          </p:cNvCxnSpPr>
          <p:nvPr/>
        </p:nvCxnSpPr>
        <p:spPr>
          <a:xfrm flipV="1">
            <a:off x="8338557" y="2714000"/>
            <a:ext cx="1515622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58" name="Connector 458"/>
          <p:cNvCxnSpPr>
            <a:stCxn id="452" idx="0"/>
            <a:endCxn id="450" idx="0"/>
          </p:cNvCxnSpPr>
          <p:nvPr/>
        </p:nvCxnSpPr>
        <p:spPr>
          <a:xfrm flipH="1" flipV="1">
            <a:off x="9854178" y="2714000"/>
            <a:ext cx="1515620" cy="1435247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59" name="Connector 459"/>
          <p:cNvCxnSpPr>
            <a:stCxn id="453" idx="0"/>
            <a:endCxn id="452" idx="0"/>
          </p:cNvCxnSpPr>
          <p:nvPr/>
        </p:nvCxnSpPr>
        <p:spPr>
          <a:xfrm flipV="1">
            <a:off x="10463970" y="4149246"/>
            <a:ext cx="905828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60" name="Connector 460"/>
          <p:cNvCxnSpPr>
            <a:stCxn id="467" idx="0"/>
            <a:endCxn id="452" idx="0"/>
          </p:cNvCxnSpPr>
          <p:nvPr/>
        </p:nvCxnSpPr>
        <p:spPr>
          <a:xfrm flipH="1" flipV="1">
            <a:off x="11369797" y="4149246"/>
            <a:ext cx="1069099" cy="1435248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cxnSp>
        <p:nvCxnSpPr>
          <p:cNvPr id="461" name="Connector 461"/>
          <p:cNvCxnSpPr>
            <a:stCxn id="454" idx="0"/>
            <a:endCxn id="453" idx="0"/>
          </p:cNvCxnSpPr>
          <p:nvPr/>
        </p:nvCxnSpPr>
        <p:spPr>
          <a:xfrm flipV="1">
            <a:off x="10463970" y="5584493"/>
            <a:ext cx="1" cy="1435249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462" name="Shape 462"/>
          <p:cNvSpPr/>
          <p:nvPr/>
        </p:nvSpPr>
        <p:spPr>
          <a:xfrm>
            <a:off x="7382275" y="3954276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63" name="Shape 463"/>
          <p:cNvSpPr/>
          <p:nvPr/>
        </p:nvSpPr>
        <p:spPr>
          <a:xfrm>
            <a:off x="9507688" y="5389523"/>
            <a:ext cx="658068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64" name="Shape 464"/>
          <p:cNvSpPr/>
          <p:nvPr/>
        </p:nvSpPr>
        <p:spPr>
          <a:xfrm>
            <a:off x="11663563" y="3954276"/>
            <a:ext cx="87354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465" name="Shape 465"/>
          <p:cNvSpPr/>
          <p:nvPr/>
        </p:nvSpPr>
        <p:spPr>
          <a:xfrm>
            <a:off x="10147942" y="2519030"/>
            <a:ext cx="873543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choose</a:t>
            </a:r>
          </a:p>
        </p:txBody>
      </p:sp>
      <p:sp>
        <p:nvSpPr>
          <p:cNvPr id="466" name="Shape 466"/>
          <p:cNvSpPr/>
          <p:nvPr/>
        </p:nvSpPr>
        <p:spPr>
          <a:xfrm>
            <a:off x="9743820" y="6824771"/>
            <a:ext cx="433462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467" name="Shape 467"/>
          <p:cNvSpPr/>
          <p:nvPr/>
        </p:nvSpPr>
        <p:spPr>
          <a:xfrm>
            <a:off x="12139690" y="5285289"/>
            <a:ext cx="598411" cy="598410"/>
          </a:xfrm>
          <a:prstGeom prst="ellipse">
            <a:avLst/>
          </a:prstGeom>
          <a:solidFill>
            <a:srgbClr val="F5F6FA"/>
          </a:solidFill>
          <a:ln w="25400">
            <a:solidFill>
              <a:srgbClr val="7F8FA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68" name="Shape 468"/>
          <p:cNvSpPr/>
          <p:nvPr/>
        </p:nvSpPr>
        <p:spPr>
          <a:xfrm>
            <a:off x="12195055" y="6671686"/>
            <a:ext cx="487681" cy="696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[3]</a:t>
            </a:r>
          </a:p>
        </p:txBody>
      </p:sp>
      <p:cxnSp>
        <p:nvCxnSpPr>
          <p:cNvPr id="469" name="Connector 469"/>
          <p:cNvCxnSpPr>
            <a:stCxn id="468" idx="0"/>
            <a:endCxn id="467" idx="0"/>
          </p:cNvCxnSpPr>
          <p:nvPr/>
        </p:nvCxnSpPr>
        <p:spPr>
          <a:xfrm flipH="1" flipV="1">
            <a:off x="12438895" y="5584493"/>
            <a:ext cx="1" cy="1435249"/>
          </a:xfrm>
          <a:prstGeom prst="straightConnector1">
            <a:avLst/>
          </a:prstGeom>
          <a:ln w="25400">
            <a:solidFill>
              <a:srgbClr val="2F3640"/>
            </a:solidFill>
            <a:miter lim="400000"/>
          </a:ln>
        </p:spPr>
      </p:cxnSp>
      <p:sp>
        <p:nvSpPr>
          <p:cNvPr id="470" name="Shape 470"/>
          <p:cNvSpPr/>
          <p:nvPr/>
        </p:nvSpPr>
        <p:spPr>
          <a:xfrm>
            <a:off x="11482613" y="5389523"/>
            <a:ext cx="658067" cy="3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8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beep</a:t>
            </a:r>
          </a:p>
        </p:txBody>
      </p:sp>
      <p:sp>
        <p:nvSpPr>
          <p:cNvPr id="471" name="Shape 471"/>
          <p:cNvSpPr/>
          <p:nvPr/>
        </p:nvSpPr>
        <p:spPr>
          <a:xfrm>
            <a:off x="10272708" y="6762817"/>
            <a:ext cx="382525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[ ]</a:t>
            </a:r>
          </a:p>
        </p:txBody>
      </p:sp>
      <p:sp>
        <p:nvSpPr>
          <p:cNvPr id="472" name="Shape 472"/>
          <p:cNvSpPr/>
          <p:nvPr/>
        </p:nvSpPr>
        <p:spPr>
          <a:xfrm>
            <a:off x="11125958" y="3903476"/>
            <a:ext cx="48768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7F8FA6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[3]</a:t>
            </a:r>
          </a:p>
        </p:txBody>
      </p:sp>
      <p:sp>
        <p:nvSpPr>
          <p:cNvPr id="473" name="Shape 473"/>
          <p:cNvSpPr/>
          <p:nvPr/>
        </p:nvSpPr>
        <p:spPr>
          <a:xfrm>
            <a:off x="9534138" y="2519030"/>
            <a:ext cx="64008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[3, 7]</a:t>
            </a:r>
          </a:p>
        </p:txBody>
      </p:sp>
    </p:spTree>
  </p:cSld>
  <p:clrMapOvr>
    <a:masterClrMapping/>
  </p:clrMapOvr>
  <p:transition xmlns:p14="http://schemas.microsoft.com/office/powerpoint/2010/main" spd="slow" advClick="1" p14:dur="200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/>
          <p:nvPr/>
        </p:nvSpPr>
        <p:spPr>
          <a:xfrm>
            <a:off x="0" y="3251200"/>
            <a:ext cx="13004801" cy="1219200"/>
          </a:xfrm>
          <a:prstGeom prst="rect">
            <a:avLst/>
          </a:prstGeom>
          <a:solidFill>
            <a:srgbClr val="4CD137">
              <a:alpha val="2353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76" name="Shape 476"/>
          <p:cNvSpPr/>
          <p:nvPr/>
        </p:nvSpPr>
        <p:spPr>
          <a:xfrm>
            <a:off x="0" y="6512611"/>
            <a:ext cx="13004801" cy="1219201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77" name="Shape 477"/>
          <p:cNvSpPr/>
          <p:nvPr/>
        </p:nvSpPr>
        <p:spPr>
          <a:xfrm>
            <a:off x="0" y="7721600"/>
            <a:ext cx="13004800" cy="12192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78" name="Shape 478"/>
          <p:cNvSpPr/>
          <p:nvPr/>
        </p:nvSpPr>
        <p:spPr>
          <a:xfrm>
            <a:off x="0" y="812800"/>
            <a:ext cx="13004801" cy="1219200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79" name="Shape 479"/>
          <p:cNvSpPr/>
          <p:nvPr/>
        </p:nvSpPr>
        <p:spPr>
          <a:xfrm>
            <a:off x="0" y="2032000"/>
            <a:ext cx="13004801" cy="12192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80" name="Shape 480"/>
          <p:cNvSpPr/>
          <p:nvPr/>
        </p:nvSpPr>
        <p:spPr>
          <a:xfrm>
            <a:off x="-1" y="215900"/>
            <a:ext cx="483672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rPr>
                <a:solidFill>
                  <a:srgbClr val="00A8FF"/>
                </a:solidFill>
              </a:rPr>
              <a:t>values</a:t>
            </a:r>
            <a:r>
              <a:t> &amp; </a:t>
            </a:r>
            <a:r>
              <a:rPr>
                <a:solidFill>
                  <a:srgbClr val="E84118"/>
                </a:solidFill>
              </a:rPr>
              <a:t>computations</a:t>
            </a:r>
          </a:p>
        </p:txBody>
      </p:sp>
      <p:sp>
        <p:nvSpPr>
          <p:cNvPr id="481" name="Shape 481"/>
          <p:cNvSpPr/>
          <p:nvPr/>
        </p:nvSpPr>
        <p:spPr>
          <a:xfrm>
            <a:off x="0" y="8813800"/>
            <a:ext cx="4007816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computation types</a:t>
            </a:r>
          </a:p>
        </p:txBody>
      </p:sp>
      <p:sp>
        <p:nvSpPr>
          <p:cNvPr id="482" name="Shape 482"/>
          <p:cNvSpPr/>
          <p:nvPr/>
        </p:nvSpPr>
        <p:spPr>
          <a:xfrm>
            <a:off x="0" y="5925922"/>
            <a:ext cx="246110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value types</a:t>
            </a:r>
          </a:p>
        </p:txBody>
      </p:sp>
      <p:sp>
        <p:nvSpPr>
          <p:cNvPr id="483" name="Shape 483"/>
          <p:cNvSpPr/>
          <p:nvPr/>
        </p:nvSpPr>
        <p:spPr>
          <a:xfrm>
            <a:off x="-1" y="4343400"/>
            <a:ext cx="192618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44BD32"/>
                </a:solidFill>
              </a:defRPr>
            </a:lvl1pPr>
          </a:lstStyle>
          <a:p>
            <a:pPr/>
            <a:r>
              <a:t>handlers</a:t>
            </a:r>
          </a:p>
        </p:txBody>
      </p:sp>
      <p:pic>
        <p:nvPicPr>
          <p:cNvPr id="484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7256" y="6747561"/>
            <a:ext cx="6019801" cy="1968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5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0760" y="1092199"/>
            <a:ext cx="10985501" cy="3378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slow" advClick="1" p14:dur="2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7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7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7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0" dur="7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4" dur="7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00"/>
                            </p:stCondLst>
                            <p:childTnLst>
                              <p:par>
                                <p:cTn id="26" presetClass="entr" nodeType="after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8" dur="7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00"/>
                            </p:stCondLst>
                            <p:childTnLst>
                              <p:par>
                                <p:cTn id="30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2" dur="7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00"/>
                            </p:stCondLst>
                            <p:childTnLst>
                              <p:par>
                                <p:cTn id="34" presetClass="exit" nodeType="after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35" dur="700" fill="hold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Class="exit" nodeType="after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39" dur="700" fill="hold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00"/>
                            </p:stCondLst>
                            <p:childTnLst>
                              <p:par>
                                <p:cTn id="42" presetClass="exit" nodeType="afterEffect" presetID="9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43" dur="700" fill="hold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ID="9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9" dur="7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Class="entr" nodeType="afterEffect" presetID="9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3" dur="7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Class="exit" nodeType="afterEffect" presetID="9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56" dur="700" fill="hold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100"/>
                            </p:stCondLst>
                            <p:childTnLst>
                              <p:par>
                                <p:cTn id="59" presetClass="exit" nodeType="afterEffect" presetID="9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60" dur="700" fill="hold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800"/>
                            </p:stCondLst>
                            <p:childTnLst>
                              <p:par>
                                <p:cTn id="63" presetClass="exit" nodeType="afterEffect" presetID="9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64" dur="700" fill="hold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Class="exit" nodeType="afterEffect" presetID="9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68" dur="700" fill="hold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77" grpId="6"/>
      <p:bldP build="whole" bldLvl="1" animBg="1" rev="0" advAuto="0" spid="475" grpId="11"/>
      <p:bldP build="whole" bldLvl="1" animBg="1" rev="0" advAuto="0" spid="476" grpId="5"/>
      <p:bldP build="whole" bldLvl="1" animBg="1" rev="0" advAuto="0" spid="478" grpId="9"/>
      <p:bldP build="whole" bldLvl="1" animBg="1" rev="0" advAuto="0" spid="481" grpId="7"/>
      <p:bldP build="whole" bldLvl="1" animBg="1" rev="0" advAuto="0" spid="482" grpId="13"/>
      <p:bldP build="whole" bldLvl="1" animBg="1" rev="0" advAuto="0" spid="480" grpId="1"/>
      <p:bldP build="whole" bldLvl="1" animBg="1" rev="0" advAuto="0" spid="479" grpId="3"/>
      <p:bldP build="whole" bldLvl="1" animBg="1" rev="0" advAuto="0" spid="483" grpId="12"/>
      <p:bldP build="whole" bldLvl="1" animBg="1" rev="0" advAuto="0" spid="476" grpId="14"/>
      <p:bldP build="whole" bldLvl="1" animBg="1" rev="0" advAuto="0" spid="477" grpId="15"/>
      <p:bldP build="whole" bldLvl="1" animBg="1" rev="0" advAuto="0" spid="479" grpId="10"/>
      <p:bldP build="whole" bldLvl="1" animBg="1" rev="0" advAuto="0" spid="480" grpId="8"/>
      <p:bldP build="whole" bldLvl="1" animBg="1" rev="0" advAuto="0" spid="481" grpId="16"/>
      <p:bldP build="whole" bldLvl="1" animBg="1" rev="0" advAuto="0" spid="478" grpId="2"/>
      <p:bldP build="whole" bldLvl="1" animBg="1" rev="0" advAuto="0" spid="482" grpId="4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487"/>
          <p:cNvSpPr/>
          <p:nvPr/>
        </p:nvSpPr>
        <p:spPr>
          <a:xfrm>
            <a:off x="0" y="5693809"/>
            <a:ext cx="13004801" cy="1625601"/>
          </a:xfrm>
          <a:prstGeom prst="rect">
            <a:avLst/>
          </a:prstGeom>
          <a:solidFill>
            <a:srgbClr val="4CD137">
              <a:alpha val="2353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88" name="Shape 488"/>
          <p:cNvSpPr/>
          <p:nvPr/>
        </p:nvSpPr>
        <p:spPr>
          <a:xfrm>
            <a:off x="0" y="2453908"/>
            <a:ext cx="13004801" cy="1625601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89" name="Shape 489"/>
          <p:cNvSpPr/>
          <p:nvPr/>
        </p:nvSpPr>
        <p:spPr>
          <a:xfrm>
            <a:off x="0" y="4069297"/>
            <a:ext cx="13004801" cy="1625601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490" name="Shape 490"/>
          <p:cNvSpPr/>
          <p:nvPr/>
        </p:nvSpPr>
        <p:spPr>
          <a:xfrm>
            <a:off x="-1" y="1857008"/>
            <a:ext cx="587227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rPr>
                <a:solidFill>
                  <a:srgbClr val="00A8FF"/>
                </a:solidFill>
              </a:rPr>
              <a:t>value</a:t>
            </a:r>
            <a:r>
              <a:t> &amp; </a:t>
            </a:r>
            <a:r>
              <a:rPr>
                <a:solidFill>
                  <a:srgbClr val="E84118"/>
                </a:solidFill>
              </a:rPr>
              <a:t>computation</a:t>
            </a:r>
            <a:r>
              <a:t> typing</a:t>
            </a:r>
          </a:p>
        </p:txBody>
      </p:sp>
      <p:pic>
        <p:nvPicPr>
          <p:cNvPr id="491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90950" y="2810208"/>
            <a:ext cx="5422900" cy="4229101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Shape 492"/>
          <p:cNvSpPr/>
          <p:nvPr/>
        </p:nvSpPr>
        <p:spPr>
          <a:xfrm>
            <a:off x="0" y="7192409"/>
            <a:ext cx="3164739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44BD32"/>
                </a:solidFill>
              </a:defRPr>
            </a:lvl1pPr>
          </a:lstStyle>
          <a:p>
            <a:pPr/>
            <a:r>
              <a:t>handler typing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2750" y="1803400"/>
            <a:ext cx="9639300" cy="6146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9900" y="3286458"/>
            <a:ext cx="9525000" cy="3200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" name="pasted-image.pdf"/>
          <p:cNvPicPr>
            <a:picLocks noChangeAspect="1"/>
          </p:cNvPicPr>
          <p:nvPr/>
        </p:nvPicPr>
        <p:blipFill>
          <a:blip r:embed="rId3">
            <a:alphaModFix amt="69561"/>
            <a:extLst/>
          </a:blip>
          <a:stretch>
            <a:fillRect/>
          </a:stretch>
        </p:blipFill>
        <p:spPr>
          <a:xfrm rot="21060000">
            <a:off x="7707083" y="6516387"/>
            <a:ext cx="5289551" cy="520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9100" y="1993900"/>
            <a:ext cx="12166600" cy="576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" name="pasted-image.pdf"/>
          <p:cNvPicPr>
            <a:picLocks noChangeAspect="1"/>
          </p:cNvPicPr>
          <p:nvPr/>
        </p:nvPicPr>
        <p:blipFill>
          <a:blip r:embed="rId3">
            <a:alphaModFix amt="70195"/>
            <a:extLst/>
          </a:blip>
          <a:stretch>
            <a:fillRect/>
          </a:stretch>
        </p:blipFill>
        <p:spPr>
          <a:xfrm rot="21060000">
            <a:off x="6110423" y="8276994"/>
            <a:ext cx="6896101" cy="520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750" y="2781300"/>
            <a:ext cx="12687300" cy="4191000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Shape 503"/>
          <p:cNvSpPr/>
          <p:nvPr/>
        </p:nvSpPr>
        <p:spPr>
          <a:xfrm>
            <a:off x="-1" y="3616658"/>
            <a:ext cx="13004801" cy="1270001"/>
          </a:xfrm>
          <a:prstGeom prst="rect">
            <a:avLst/>
          </a:prstGeom>
          <a:solidFill>
            <a:srgbClr val="F5F6F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04" name="Shape 504"/>
          <p:cNvSpPr/>
          <p:nvPr/>
        </p:nvSpPr>
        <p:spPr>
          <a:xfrm>
            <a:off x="0" y="4876800"/>
            <a:ext cx="13004800" cy="1270000"/>
          </a:xfrm>
          <a:prstGeom prst="rect">
            <a:avLst/>
          </a:prstGeom>
          <a:solidFill>
            <a:srgbClr val="F5F6F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05" name="Shape 505"/>
          <p:cNvSpPr/>
          <p:nvPr/>
        </p:nvSpPr>
        <p:spPr>
          <a:xfrm>
            <a:off x="0" y="6146800"/>
            <a:ext cx="13004800" cy="1270000"/>
          </a:xfrm>
          <a:prstGeom prst="rect">
            <a:avLst/>
          </a:prstGeom>
          <a:solidFill>
            <a:srgbClr val="F5F6F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06" name="Shape 506"/>
          <p:cNvSpPr/>
          <p:nvPr/>
        </p:nvSpPr>
        <p:spPr>
          <a:xfrm>
            <a:off x="2342290" y="5774266"/>
            <a:ext cx="3365501" cy="436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5600">
                <a:solidFill>
                  <a:srgbClr val="000000"/>
                </a:solidFill>
                <a:latin typeface="Apple Color Emoji"/>
                <a:ea typeface="Apple Color Emoji"/>
                <a:cs typeface="Apple Color Emoji"/>
                <a:sym typeface="Apple Color Emoji"/>
              </a:defRPr>
            </a:lvl1pPr>
          </a:lstStyle>
          <a:p>
            <a:pPr/>
            <a:r>
              <a:t>💩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xit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1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6" grpId="4"/>
      <p:bldP build="whole" bldLvl="1" animBg="1" rev="0" advAuto="0" spid="504" grpId="2"/>
      <p:bldP build="whole" bldLvl="1" animBg="1" rev="0" advAuto="0" spid="505" grpId="3"/>
      <p:bldP build="whole" bldLvl="1" animBg="1" rev="0" advAuto="0" spid="503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0650" y="3759200"/>
            <a:ext cx="7683500" cy="2235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pasted-image.pdf"/>
          <p:cNvPicPr>
            <a:picLocks noChangeAspect="1"/>
          </p:cNvPicPr>
          <p:nvPr/>
        </p:nvPicPr>
        <p:blipFill>
          <a:blip r:embed="rId2">
            <a:alphaModFix amt="70222"/>
            <a:extLst/>
          </a:blip>
          <a:stretch>
            <a:fillRect/>
          </a:stretch>
        </p:blipFill>
        <p:spPr>
          <a:xfrm rot="21060000">
            <a:off x="7707083" y="6306837"/>
            <a:ext cx="5289551" cy="520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8766" y="3621616"/>
            <a:ext cx="10693401" cy="2527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3" name="Table 513"/>
          <p:cNvGraphicFramePr/>
          <p:nvPr/>
        </p:nvGraphicFramePr>
        <p:xfrm>
          <a:off x="0" y="-1"/>
          <a:ext cx="13004800" cy="97536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4708457"/>
                <a:gridCol w="1661808"/>
                <a:gridCol w="1661808"/>
                <a:gridCol w="1661808"/>
                <a:gridCol w="1661808"/>
                <a:gridCol w="1661808"/>
              </a:tblGrid>
              <a:tr h="1625600">
                <a:tc>
                  <a:txBody>
                    <a:bodyPr/>
                    <a:lstStyle/>
                    <a:p>
                      <a:pPr defTabSz="914400">
                        <a:defRPr b="0" sz="2600">
                          <a:sym typeface="Avenir Next Demi Bold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i="1" sz="3200">
                          <a:solidFill>
                            <a:srgbClr val="2F3640"/>
                          </a:solidFill>
                          <a:latin typeface="Iosevka"/>
                          <a:ea typeface="Iosevka"/>
                          <a:cs typeface="Iosevka"/>
                          <a:sym typeface="Iosevka"/>
                        </a:rPr>
                        <a:t>goLeft
goRight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i="1" sz="3200">
                          <a:solidFill>
                            <a:srgbClr val="2F3640"/>
                          </a:solidFill>
                          <a:latin typeface="Iosevka"/>
                          <a:ea typeface="Iosevka"/>
                          <a:cs typeface="Iosevka"/>
                          <a:sym typeface="Iosevka"/>
                        </a:rPr>
                        <a:t>random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i="1" sz="3200">
                          <a:solidFill>
                            <a:srgbClr val="2F3640"/>
                          </a:solidFill>
                          <a:latin typeface="Iosevka"/>
                          <a:ea typeface="Iosevka"/>
                          <a:cs typeface="Iosevka"/>
                          <a:sym typeface="Iosevka"/>
                        </a:rPr>
                        <a:t>pickMax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i="1" sz="3200">
                          <a:solidFill>
                            <a:srgbClr val="2F3640"/>
                          </a:solidFill>
                          <a:latin typeface="Iosevka"/>
                          <a:ea typeface="Iosevka"/>
                          <a:cs typeface="Iosevka"/>
                          <a:sym typeface="Iosevka"/>
                        </a:rPr>
                        <a:t>toList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i="1" sz="3200">
                          <a:solidFill>
                            <a:srgbClr val="2F3640"/>
                          </a:solidFill>
                          <a:latin typeface="Iosevka"/>
                          <a:ea typeface="Iosevka"/>
                          <a:cs typeface="Iosevka"/>
                          <a:sym typeface="Iosevka"/>
                        </a:rPr>
                        <a:t>toSet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 defTabSz="914400">
                        <a:defRPr b="0" sz="2600">
                          <a:sym typeface="Avenir Next Demi Bold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blipFill rotWithShape="1">
                      <a:blip r:embed="rId2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E84118"/>
                          </a:solidFill>
                          <a:sym typeface="Avenir Next"/>
                        </a:rPr>
                        <a:t>✘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 defTabSz="914400">
                        <a:defRPr b="0" sz="2600">
                          <a:sym typeface="Avenir Next Demi Bold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blipFill rotWithShape="1">
                      <a:blip r:embed="rId3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E84118"/>
                          </a:solidFill>
                          <a:sym typeface="Avenir Next"/>
                        </a:rPr>
                        <a:t>✘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E84118"/>
                          </a:solidFill>
                          <a:sym typeface="Avenir Next"/>
                        </a:rPr>
                        <a:t>✘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 defTabSz="914400">
                        <a:defRPr b="0" sz="2600">
                          <a:sym typeface="Avenir Next Demi Bold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blipFill rotWithShape="1">
                      <a:blip r:embed="rId4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E84118"/>
                          </a:solidFill>
                          <a:sym typeface="Avenir Next"/>
                        </a:rPr>
                        <a:t>✘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 defTabSz="914400">
                        <a:defRPr b="0" sz="2600">
                          <a:sym typeface="Avenir Next Demi Bold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blipFill rotWithShape="1">
                      <a:blip r:embed="rId5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E84118"/>
                          </a:solidFill>
                          <a:sym typeface="Avenir Next"/>
                        </a:rPr>
                        <a:t>✘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E84118"/>
                          </a:solidFill>
                          <a:sym typeface="Avenir Next"/>
                        </a:rPr>
                        <a:t>✘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E84118"/>
                          </a:solidFill>
                          <a:sym typeface="Avenir Next"/>
                        </a:rPr>
                        <a:t>✘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 defTabSz="914400">
                        <a:defRPr b="0" sz="2600">
                          <a:sym typeface="Avenir Next Demi Bold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blipFill rotWithShape="1">
                      <a:blip r:embed="rId6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200">
                          <a:solidFill>
                            <a:srgbClr val="00A8FF"/>
                          </a:solidFill>
                          <a:sym typeface="Avenir Next"/>
                        </a:rPr>
                        <a:t>✔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 p14:dur="100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515"/>
          <p:cNvSpPr/>
          <p:nvPr/>
        </p:nvSpPr>
        <p:spPr>
          <a:xfrm>
            <a:off x="0" y="820169"/>
            <a:ext cx="13004801" cy="1625601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516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200" y="1271019"/>
            <a:ext cx="9042400" cy="723901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Shape 517"/>
          <p:cNvSpPr/>
          <p:nvPr/>
        </p:nvSpPr>
        <p:spPr>
          <a:xfrm>
            <a:off x="0" y="2445769"/>
            <a:ext cx="13004801" cy="6507379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18" name="Shape 518"/>
          <p:cNvSpPr/>
          <p:nvPr/>
        </p:nvSpPr>
        <p:spPr>
          <a:xfrm>
            <a:off x="10950600" y="223269"/>
            <a:ext cx="20542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signature</a:t>
            </a:r>
          </a:p>
        </p:txBody>
      </p:sp>
      <p:sp>
        <p:nvSpPr>
          <p:cNvPr id="519" name="Shape 519"/>
          <p:cNvSpPr/>
          <p:nvPr/>
        </p:nvSpPr>
        <p:spPr>
          <a:xfrm>
            <a:off x="9215526" y="8800747"/>
            <a:ext cx="3789274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equational theory</a:t>
            </a:r>
          </a:p>
        </p:txBody>
      </p:sp>
      <p:pic>
        <p:nvPicPr>
          <p:cNvPr id="520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850" y="2968958"/>
            <a:ext cx="11595100" cy="538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6" dur="2000" fill="hold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0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 rot="88185">
            <a:off x="3107050" y="184175"/>
            <a:ext cx="6783534" cy="9512159"/>
          </a:xfrm>
          <a:prstGeom prst="rect">
            <a:avLst/>
          </a:prstGeom>
        </p:spPr>
      </p:pic>
      <p:pic>
        <p:nvPicPr>
          <p:cNvPr id="523" name="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21505252">
            <a:off x="914531" y="2806202"/>
            <a:ext cx="11191223" cy="404959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 p14:dur="1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3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1750" y="1987550"/>
            <a:ext cx="10401300" cy="5778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make </a:t>
            </a:r>
            <a:r>
              <a:rPr>
                <a:solidFill>
                  <a:srgbClr val="FBC531"/>
                </a:solidFill>
                <a:latin typeface="+mj-lt"/>
                <a:ea typeface="+mj-ea"/>
                <a:cs typeface="+mj-cs"/>
                <a:sym typeface="Avenir Next Heavy"/>
              </a:rPr>
              <a:t>EQUATIONS</a:t>
            </a:r>
          </a:p>
          <a:p>
            <a:pPr/>
            <a:r>
              <a:t>GREAT AGAIN!</a:t>
            </a:r>
          </a:p>
        </p:txBody>
      </p:sp>
      <p:sp>
        <p:nvSpPr>
          <p:cNvPr id="528" name="Shape 528"/>
          <p:cNvSpPr/>
          <p:nvPr/>
        </p:nvSpPr>
        <p:spPr>
          <a:xfrm>
            <a:off x="5171998" y="8547100"/>
            <a:ext cx="2660804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F5F6FA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#mega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530"/>
          <p:cNvSpPr/>
          <p:nvPr/>
        </p:nvSpPr>
        <p:spPr>
          <a:xfrm>
            <a:off x="0" y="3251200"/>
            <a:ext cx="13004801" cy="1219200"/>
          </a:xfrm>
          <a:prstGeom prst="rect">
            <a:avLst/>
          </a:prstGeom>
          <a:solidFill>
            <a:srgbClr val="4CD137">
              <a:alpha val="23531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31" name="Shape 531"/>
          <p:cNvSpPr/>
          <p:nvPr/>
        </p:nvSpPr>
        <p:spPr>
          <a:xfrm>
            <a:off x="0" y="6512611"/>
            <a:ext cx="13004801" cy="1219201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32" name="Shape 532"/>
          <p:cNvSpPr/>
          <p:nvPr/>
        </p:nvSpPr>
        <p:spPr>
          <a:xfrm>
            <a:off x="0" y="7721600"/>
            <a:ext cx="13004800" cy="12192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33" name="Shape 533"/>
          <p:cNvSpPr/>
          <p:nvPr/>
        </p:nvSpPr>
        <p:spPr>
          <a:xfrm>
            <a:off x="0" y="812800"/>
            <a:ext cx="13004801" cy="1219200"/>
          </a:xfrm>
          <a:prstGeom prst="rect">
            <a:avLst/>
          </a:prstGeom>
          <a:solidFill>
            <a:srgbClr val="00A8FF">
              <a:alpha val="2522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34" name="Shape 534"/>
          <p:cNvSpPr/>
          <p:nvPr/>
        </p:nvSpPr>
        <p:spPr>
          <a:xfrm>
            <a:off x="0" y="2032000"/>
            <a:ext cx="13004801" cy="1219200"/>
          </a:xfrm>
          <a:prstGeom prst="rect">
            <a:avLst/>
          </a:prstGeom>
          <a:solidFill>
            <a:srgbClr val="E84118">
              <a:alpha val="2467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35" name="Shape 535"/>
          <p:cNvSpPr/>
          <p:nvPr/>
        </p:nvSpPr>
        <p:spPr>
          <a:xfrm>
            <a:off x="-1" y="215900"/>
            <a:ext cx="483672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/>
            <a:r>
              <a:rPr>
                <a:solidFill>
                  <a:srgbClr val="00A8FF"/>
                </a:solidFill>
              </a:rPr>
              <a:t>values</a:t>
            </a:r>
            <a:r>
              <a:t> &amp; </a:t>
            </a:r>
            <a:r>
              <a:rPr>
                <a:solidFill>
                  <a:srgbClr val="E84118"/>
                </a:solidFill>
              </a:rPr>
              <a:t>computations</a:t>
            </a:r>
          </a:p>
        </p:txBody>
      </p:sp>
      <p:sp>
        <p:nvSpPr>
          <p:cNvPr id="536" name="Shape 536"/>
          <p:cNvSpPr/>
          <p:nvPr/>
        </p:nvSpPr>
        <p:spPr>
          <a:xfrm>
            <a:off x="0" y="8813800"/>
            <a:ext cx="4007816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E84118"/>
                </a:solidFill>
              </a:defRPr>
            </a:lvl1pPr>
          </a:lstStyle>
          <a:p>
            <a:pPr/>
            <a:r>
              <a:t>computation types</a:t>
            </a:r>
          </a:p>
        </p:txBody>
      </p:sp>
      <p:sp>
        <p:nvSpPr>
          <p:cNvPr id="537" name="Shape 537"/>
          <p:cNvSpPr/>
          <p:nvPr/>
        </p:nvSpPr>
        <p:spPr>
          <a:xfrm>
            <a:off x="0" y="5925922"/>
            <a:ext cx="246110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00A8FF"/>
                </a:solidFill>
              </a:defRPr>
            </a:lvl1pPr>
          </a:lstStyle>
          <a:p>
            <a:pPr/>
            <a:r>
              <a:t>value types</a:t>
            </a:r>
          </a:p>
        </p:txBody>
      </p:sp>
      <p:sp>
        <p:nvSpPr>
          <p:cNvPr id="538" name="Shape 538"/>
          <p:cNvSpPr/>
          <p:nvPr/>
        </p:nvSpPr>
        <p:spPr>
          <a:xfrm>
            <a:off x="-1" y="4343400"/>
            <a:ext cx="192618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solidFill>
                  <a:srgbClr val="44BD32"/>
                </a:solidFill>
              </a:defRPr>
            </a:lvl1pPr>
          </a:lstStyle>
          <a:p>
            <a:pPr/>
            <a:r>
              <a:t>handlers</a:t>
            </a:r>
          </a:p>
        </p:txBody>
      </p:sp>
      <p:pic>
        <p:nvPicPr>
          <p:cNvPr id="539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0760" y="1289050"/>
            <a:ext cx="2438401" cy="2806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0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7256" y="6737350"/>
            <a:ext cx="4495801" cy="1968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0650" y="3759200"/>
            <a:ext cx="7683500" cy="2235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82950" y="3750008"/>
            <a:ext cx="6438900" cy="2273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4283" y="3386666"/>
            <a:ext cx="9690101" cy="299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33" y="849081"/>
            <a:ext cx="13004801" cy="80723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6050" y="3835400"/>
            <a:ext cx="10172700" cy="2082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7350" y="787400"/>
            <a:ext cx="12230100" cy="8178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/>
          <p:nvPr/>
        </p:nvSpPr>
        <p:spPr>
          <a:xfrm>
            <a:off x="2889250" y="82067"/>
            <a:ext cx="7226301" cy="3108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let</a:t>
            </a:r>
            <a:r>
              <a:t> </a:t>
            </a:r>
            <a:r>
              <a:rPr i="1"/>
              <a:t>pickMax</a:t>
            </a:r>
            <a:r>
              <a:t> = </a:t>
            </a:r>
            <a:r>
              <a:rPr>
                <a:latin typeface="Iosevka Heavy"/>
                <a:ea typeface="Iosevka Heavy"/>
                <a:cs typeface="Iosevka Heavy"/>
                <a:sym typeface="Iosevka Heavy"/>
              </a:rPr>
              <a:t>handler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00A8FF"/>
                </a:solidFill>
              </a:rPr>
              <a:t>choose</a:t>
            </a:r>
            <a:r>
              <a:t> k</a:t>
            </a:r>
            <a:r>
              <a:rPr baseline="-5999"/>
              <a:t>1</a:t>
            </a:r>
            <a:r>
              <a:t> k</a:t>
            </a:r>
            <a:r>
              <a:rPr baseline="-5999"/>
              <a:t>2</a:t>
            </a:r>
            <a:r>
              <a:t> -&gt;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t>    </a:t>
            </a:r>
            <a:r>
              <a:rPr i="1"/>
              <a:t>max</a:t>
            </a:r>
            <a:r>
              <a:t> (k</a:t>
            </a:r>
            <a:r>
              <a:rPr baseline="-5999"/>
              <a:t>1</a:t>
            </a:r>
            <a:r>
              <a:t> ()) (k</a:t>
            </a:r>
            <a:r>
              <a:rPr baseline="-5999"/>
              <a:t>2</a:t>
            </a:r>
            <a:r>
              <a:t> ())</a:t>
            </a:r>
          </a:p>
          <a:p>
            <a:pPr algn="l">
              <a:defRPr sz="4800">
                <a:latin typeface="Iosevka"/>
                <a:ea typeface="Iosevka"/>
                <a:cs typeface="Iosevka"/>
                <a:sym typeface="Iosevka"/>
              </a:defRPr>
            </a:pPr>
            <a:r>
              <a:t>  </a:t>
            </a:r>
            <a:r>
              <a:rPr>
                <a:solidFill>
                  <a:srgbClr val="E84118"/>
                </a:solidFill>
              </a:rPr>
              <a:t>fail</a:t>
            </a:r>
            <a:r>
              <a:t> -&gt; -</a:t>
            </a:r>
            <a:r>
              <a:rPr i="1"/>
              <a:t>inf</a:t>
            </a:r>
          </a:p>
        </p:txBody>
      </p:sp>
      <p:pic>
        <p:nvPicPr>
          <p:cNvPr id="555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9850" y="5007661"/>
            <a:ext cx="10325100" cy="3009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9800" y="3270250"/>
            <a:ext cx="11125200" cy="3213100"/>
          </a:xfrm>
          <a:prstGeom prst="rect">
            <a:avLst/>
          </a:prstGeom>
          <a:ln w="12700">
            <a:miter lim="400000"/>
          </a:ln>
        </p:spPr>
      </p:pic>
      <p:sp>
        <p:nvSpPr>
          <p:cNvPr id="558" name="Shape 558"/>
          <p:cNvSpPr/>
          <p:nvPr/>
        </p:nvSpPr>
        <p:spPr>
          <a:xfrm>
            <a:off x="632375" y="5425830"/>
            <a:ext cx="11645861" cy="1270001"/>
          </a:xfrm>
          <a:prstGeom prst="rect">
            <a:avLst/>
          </a:prstGeom>
          <a:solidFill>
            <a:srgbClr val="F5F6F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 p14:dur="1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58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5600" y="2882900"/>
            <a:ext cx="12293600" cy="398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Avenir Next Heavy"/>
              </a:rPr>
              <a:t>FUTURE </a:t>
            </a:r>
            <a:r>
              <a:t>WORK</a:t>
            </a:r>
          </a:p>
        </p:txBody>
      </p:sp>
      <p:sp>
        <p:nvSpPr>
          <p:cNvPr id="563" name="Shape 563"/>
          <p:cNvSpPr/>
          <p:nvPr/>
        </p:nvSpPr>
        <p:spPr>
          <a:xfrm>
            <a:off x="508000" y="1636445"/>
            <a:ext cx="3410255" cy="259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>
                <a:latin typeface="+mj-lt"/>
                <a:ea typeface="+mj-ea"/>
                <a:cs typeface="+mj-cs"/>
                <a:sym typeface="Avenir Next Heavy"/>
              </a:rPr>
              <a:t>usual</a:t>
            </a:r>
            <a:r>
              <a:t> suspects</a:t>
            </a:r>
          </a:p>
          <a:p>
            <a:pPr marL="228600" indent="-228600" algn="l">
              <a:buSzPct val="100000"/>
              <a:buChar char="•"/>
            </a:pPr>
            <a:r>
              <a:t>semantics</a:t>
            </a:r>
          </a:p>
          <a:p>
            <a:pPr marL="228600" indent="-228600" algn="l">
              <a:buSzPct val="100000"/>
              <a:buChar char="•"/>
            </a:pPr>
            <a:r>
              <a:t>safety</a:t>
            </a:r>
          </a:p>
          <a:p>
            <a:pPr marL="228600" indent="-228600" algn="l">
              <a:buSzPct val="100000"/>
              <a:buChar char="•"/>
            </a:pPr>
            <a:r>
              <a:t>soundness</a:t>
            </a:r>
          </a:p>
        </p:txBody>
      </p:sp>
      <p:sp>
        <p:nvSpPr>
          <p:cNvPr id="564" name="Shape 564"/>
          <p:cNvSpPr/>
          <p:nvPr/>
        </p:nvSpPr>
        <p:spPr>
          <a:xfrm>
            <a:off x="2985731" y="4612347"/>
            <a:ext cx="5666538" cy="196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>
                <a:latin typeface="+mj-lt"/>
                <a:ea typeface="+mj-ea"/>
                <a:cs typeface="+mj-cs"/>
                <a:sym typeface="Avenir Next Heavy"/>
              </a:rPr>
              <a:t>useful</a:t>
            </a:r>
            <a:r>
              <a:t> implementation</a:t>
            </a:r>
          </a:p>
          <a:p>
            <a:pPr marL="228600" indent="-228600" algn="l">
              <a:buSzPct val="100000"/>
              <a:buChar char="•"/>
            </a:pPr>
            <a:r>
              <a:t>QuickCheck / QuickSpec</a:t>
            </a:r>
          </a:p>
          <a:p>
            <a:pPr marL="228600" indent="-228600" algn="l">
              <a:buSzPct val="100000"/>
              <a:buChar char="•"/>
            </a:pPr>
            <a:r>
              <a:t>compiler optimizations</a:t>
            </a:r>
          </a:p>
        </p:txBody>
      </p:sp>
      <p:sp>
        <p:nvSpPr>
          <p:cNvPr id="565" name="Shape 565"/>
          <p:cNvSpPr/>
          <p:nvPr/>
        </p:nvSpPr>
        <p:spPr>
          <a:xfrm>
            <a:off x="6352946" y="7277100"/>
            <a:ext cx="6143855" cy="196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>
                <a:latin typeface="+mj-lt"/>
                <a:ea typeface="+mj-ea"/>
                <a:cs typeface="+mj-cs"/>
                <a:sym typeface="Avenir Next Heavy"/>
              </a:rPr>
              <a:t>powerful</a:t>
            </a:r>
            <a:r>
              <a:t> logic</a:t>
            </a:r>
          </a:p>
          <a:p>
            <a:pPr marL="228600" indent="-228600" algn="l">
              <a:buSzPct val="100000"/>
              <a:buChar char="•"/>
            </a:pPr>
            <a:r>
              <a:t>extended reasoning</a:t>
            </a:r>
          </a:p>
          <a:p>
            <a:pPr marL="228600" indent="-228600" algn="l">
              <a:buSzPct val="100000"/>
              <a:buChar char="•"/>
            </a:pPr>
            <a:r>
              <a:t>more powerful specification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2F364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venir Next Heavy"/>
        <a:ea typeface="Avenir Next Heavy"/>
        <a:cs typeface="Avenir Next Heavy"/>
      </a:majorFont>
      <a:minorFont>
        <a:latin typeface="Avenir Next"/>
        <a:ea typeface="Avenir Next"/>
        <a:cs typeface="Avenir Nex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84118">
            <a:alpha val="24674"/>
          </a:srgb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2F3640"/>
            </a:solidFill>
            <a:effectLst/>
            <a:uFillTx/>
            <a:latin typeface="+mn-lt"/>
            <a:ea typeface="+mn-ea"/>
            <a:cs typeface="+mn-cs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venir Next Heavy"/>
        <a:ea typeface="Avenir Next Heavy"/>
        <a:cs typeface="Avenir Next Heavy"/>
      </a:majorFont>
      <a:minorFont>
        <a:latin typeface="Avenir Next"/>
        <a:ea typeface="Avenir Next"/>
        <a:cs typeface="Avenir Nex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84118">
            <a:alpha val="24674"/>
          </a:srgb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2F3640"/>
            </a:solidFill>
            <a:effectLst/>
            <a:uFillTx/>
            <a:latin typeface="+mn-lt"/>
            <a:ea typeface="+mn-ea"/>
            <a:cs typeface="+mn-cs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